
<file path=[Content_Types].xml><?xml version="1.0" encoding="utf-8"?>
<Types xmlns="http://schemas.openxmlformats.org/package/2006/content-types">
  <Default ContentType="image/png" Extension="png"/>
  <Default ContentType="application/vnd.openxmlformats-package.relationships+xml" Extension="rels"/>
  <Default ContentType="application/xml" Extension="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23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2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  <p:sldMasterId id="2147483660" r:id="rId8"/>
  </p:sldMasterIdLst>
  <p:notesMasterIdLst>
    <p:notesMasterId r:id="rId6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</p:sldIdLst>
  <p:sldSz cx="12192000" cy="6858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 mar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 marL="4572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 marL="9144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 marL="13716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 marL="18288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 marL="22860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 marL="27432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 marL="32004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 marL="36576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arget="theme/theme1.xml" Type="http://schemas.openxmlformats.org/officeDocument/2006/relationships/theme"/><Relationship Id="rId10" Target="slides/slide2.xml" Type="http://schemas.openxmlformats.org/officeDocument/2006/relationships/slide"/><Relationship Id="rId11" Target="slides/slide3.xml" Type="http://schemas.openxmlformats.org/officeDocument/2006/relationships/slide"/><Relationship Id="rId12" Target="slides/slide4.xml" Type="http://schemas.openxmlformats.org/officeDocument/2006/relationships/slide"/><Relationship Id="rId13" Target="slides/slide5.xml" Type="http://schemas.openxmlformats.org/officeDocument/2006/relationships/slide"/><Relationship Id="rId14" Target="slides/slide6.xml" Type="http://schemas.openxmlformats.org/officeDocument/2006/relationships/slide"/><Relationship Id="rId15" Target="slides/slide7.xml" Type="http://schemas.openxmlformats.org/officeDocument/2006/relationships/slide"/><Relationship Id="rId16" Target="slides/slide8.xml" Type="http://schemas.openxmlformats.org/officeDocument/2006/relationships/slide"/><Relationship Id="rId17" Target="slides/slide9.xml" Type="http://schemas.openxmlformats.org/officeDocument/2006/relationships/slide"/><Relationship Id="rId18" Target="slides/slide10.xml" Type="http://schemas.openxmlformats.org/officeDocument/2006/relationships/slide"/><Relationship Id="rId19" Target="slides/slide11.xml" Type="http://schemas.openxmlformats.org/officeDocument/2006/relationships/slide"/><Relationship Id="rId2" Target="viewProps.xml" Type="http://schemas.openxmlformats.org/officeDocument/2006/relationships/viewProps"/><Relationship Id="rId20" Target="slides/slide12.xml" Type="http://schemas.openxmlformats.org/officeDocument/2006/relationships/slide"/><Relationship Id="rId21" Target="slides/slide13.xml" Type="http://schemas.openxmlformats.org/officeDocument/2006/relationships/slide"/><Relationship Id="rId22" Target="slides/slide14.xml" Type="http://schemas.openxmlformats.org/officeDocument/2006/relationships/slide"/><Relationship Id="rId23" Target="slides/slide15.xml" Type="http://schemas.openxmlformats.org/officeDocument/2006/relationships/slide"/><Relationship Id="rId24" Target="slides/slide16.xml" Type="http://schemas.openxmlformats.org/officeDocument/2006/relationships/slide"/><Relationship Id="rId25" Target="slides/slide17.xml" Type="http://schemas.openxmlformats.org/officeDocument/2006/relationships/slide"/><Relationship Id="rId26" Target="slides/slide18.xml" Type="http://schemas.openxmlformats.org/officeDocument/2006/relationships/slide"/><Relationship Id="rId27" Target="slides/slide19.xml" Type="http://schemas.openxmlformats.org/officeDocument/2006/relationships/slide"/><Relationship Id="rId28" Target="slides/slide20.xml" Type="http://schemas.openxmlformats.org/officeDocument/2006/relationships/slide"/><Relationship Id="rId29" Target="slides/slide21.xml" Type="http://schemas.openxmlformats.org/officeDocument/2006/relationships/slide"/><Relationship Id="rId3" Target="presProps.xml" Type="http://schemas.openxmlformats.org/officeDocument/2006/relationships/presProps"/><Relationship Id="rId30" Target="slides/slide22.xml" Type="http://schemas.openxmlformats.org/officeDocument/2006/relationships/slide"/><Relationship Id="rId31" Target="slides/slide23.xml" Type="http://schemas.openxmlformats.org/officeDocument/2006/relationships/slide"/><Relationship Id="rId32" Target="notesSlides/notesSlide1.xml" Type="http://schemas.openxmlformats.org/officeDocument/2006/relationships/notesSlide"/><Relationship Id="rId33" Target="notesSlides/notesSlide2.xml" Type="http://schemas.openxmlformats.org/officeDocument/2006/relationships/notesSlide"/><Relationship Id="rId34" Target="notesSlides/notesSlide3.xml" Type="http://schemas.openxmlformats.org/officeDocument/2006/relationships/notesSlide"/><Relationship Id="rId35" Target="notesSlides/notesSlide4.xml" Type="http://schemas.openxmlformats.org/officeDocument/2006/relationships/notesSlide"/><Relationship Id="rId36" Target="notesSlides/notesSlide5.xml" Type="http://schemas.openxmlformats.org/officeDocument/2006/relationships/notesSlide"/><Relationship Id="rId37" Target="notesSlides/notesSlide6.xml" Type="http://schemas.openxmlformats.org/officeDocument/2006/relationships/notesSlide"/><Relationship Id="rId38" Target="notesSlides/notesSlide7.xml" Type="http://schemas.openxmlformats.org/officeDocument/2006/relationships/notesSlide"/><Relationship Id="rId39" Target="notesSlides/notesSlide8.xml" Type="http://schemas.openxmlformats.org/officeDocument/2006/relationships/notesSlide"/><Relationship Id="rId4" Target="slideMasters/slideMaster1.xml" Type="http://schemas.openxmlformats.org/officeDocument/2006/relationships/slideMaster"/><Relationship Id="rId40" Target="notesSlides/notesSlide9.xml" Type="http://schemas.openxmlformats.org/officeDocument/2006/relationships/notesSlide"/><Relationship Id="rId41" Target="notesSlides/notesSlide10.xml" Type="http://schemas.openxmlformats.org/officeDocument/2006/relationships/notesSlide"/><Relationship Id="rId42" Target="notesSlides/notesSlide11.xml" Type="http://schemas.openxmlformats.org/officeDocument/2006/relationships/notesSlide"/><Relationship Id="rId43" Target="notesSlides/notesSlide12.xml" Type="http://schemas.openxmlformats.org/officeDocument/2006/relationships/notesSlide"/><Relationship Id="rId44" Target="notesSlides/notesSlide13.xml" Type="http://schemas.openxmlformats.org/officeDocument/2006/relationships/notesSlide"/><Relationship Id="rId45" Target="notesSlides/notesSlide14.xml" Type="http://schemas.openxmlformats.org/officeDocument/2006/relationships/notesSlide"/><Relationship Id="rId46" Target="notesSlides/notesSlide15.xml" Type="http://schemas.openxmlformats.org/officeDocument/2006/relationships/notesSlide"/><Relationship Id="rId47" Target="notesSlides/notesSlide16.xml" Type="http://schemas.openxmlformats.org/officeDocument/2006/relationships/notesSlide"/><Relationship Id="rId48" Target="notesSlides/notesSlide17.xml" Type="http://schemas.openxmlformats.org/officeDocument/2006/relationships/notesSlide"/><Relationship Id="rId49" Target="notesSlides/notesSlide18.xml" Type="http://schemas.openxmlformats.org/officeDocument/2006/relationships/notesSlide"/><Relationship Id="rId50" Target="notesSlides/notesSlide19.xml" Type="http://schemas.openxmlformats.org/officeDocument/2006/relationships/notesSlide"/><Relationship Id="rId51" Target="notesSlides/notesSlide20.xml" Type="http://schemas.openxmlformats.org/officeDocument/2006/relationships/notesSlide"/><Relationship Id="rId52" Target="notesSlides/notesSlide21.xml" Type="http://schemas.openxmlformats.org/officeDocument/2006/relationships/notesSlide"/><Relationship Id="rId53" Target="notesSlides/notesSlide22.xml" Type="http://schemas.openxmlformats.org/officeDocument/2006/relationships/notesSlide"/><Relationship Id="rId54" Target="notesSlides/notesSlide23.xml" Type="http://schemas.openxmlformats.org/officeDocument/2006/relationships/notesSlide"/><Relationship Id="rId6" Target="notesMasters/notesMaster1.xml" Type="http://schemas.openxmlformats.org/officeDocument/2006/relationships/notesMaster"/><Relationship Id="rId7" Target="theme/theme2.xml" Type="http://schemas.openxmlformats.org/officeDocument/2006/relationships/theme"/><Relationship Id="rId8" Target="slideMasters/slideMaster2.xml" Type="http://schemas.openxmlformats.org/officeDocument/2006/relationships/slideMaster"/><Relationship Id="rId9" Target="slides/slide1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1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_rels/notesSlide1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4.xml" Type="http://schemas.openxmlformats.org/officeDocument/2006/relationships/slide"/></Relationships>
</file>

<file path=ppt/notesSlides/_rels/notesSlide1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5.xml" Type="http://schemas.openxmlformats.org/officeDocument/2006/relationships/slide"/></Relationships>
</file>

<file path=ppt/notesSlides/_rels/notesSlide1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6.xml" Type="http://schemas.openxmlformats.org/officeDocument/2006/relationships/slide"/></Relationships>
</file>

<file path=ppt/notesSlides/_rels/notesSlide1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7.xml" Type="http://schemas.openxmlformats.org/officeDocument/2006/relationships/slide"/></Relationships>
</file>

<file path=ppt/notesSlides/_rels/notesSlide1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8.xml" Type="http://schemas.openxmlformats.org/officeDocument/2006/relationships/slide"/></Relationships>
</file>

<file path=ppt/notesSlides/_rels/notesSlide1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9.xml" Type="http://schemas.openxmlformats.org/officeDocument/2006/relationships/slide"/></Relationships>
</file>

<file path=ppt/notesSlides/_rels/notesSlide2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0.xml" Type="http://schemas.openxmlformats.org/officeDocument/2006/relationships/slide"/></Relationships>
</file>

<file path=ppt/notesSlides/_rels/notesSlide2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1.xml" Type="http://schemas.openxmlformats.org/officeDocument/2006/relationships/slide"/></Relationships>
</file>

<file path=ppt/notesSlides/_rels/notesSlide2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2.xml" Type="http://schemas.openxmlformats.org/officeDocument/2006/relationships/slide"/></Relationships>
</file>

<file path=ppt/notesSlides/_rels/notesSlide2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3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大家好，今天分享一个我最近偶然翻到的开源项目 TabTin。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但我不打算只讲这个项目本身，我想从一个大家都有体感的问题聊起：为什么 AI 让我们个人干活快了，团队却没跟着快起来？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TabTin 是这条线上的一个观察样本，我们会看到它和多智能体协同这个很热的方向，其实在填同一道沟。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先问大家一个问题：最近有没有遇到过这种场景——你让 AI 做了一下午的活，同事接手的时候要重新问你一遍结论怎么来的、数据从哪来的。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这不是某个人不上心，而是我们现在用的这些 AI 工具，它设计的时候就是围着"你这一个人"转的。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你做完了，上下文在你的对话框里，方法在你的 Prompt 里，判断依据在你的历史记录里。这些东西不会自动变成团队的资产。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这个鸿沟不是我瞎编的。个人层面，受控实验里编码任务完成时间提升在 20% 到 55% 这个区间，体感上确实快了。当然也有严谨实验发现资深开发者在熟悉代码上反而慢了 19%，说明这个数字高度依赖任务类型。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但把视角拉到宏观，经济学家 Acemoglu 估算十年间 AI 对全要素生产率的贡献只有大约 0.5%——这是偏保守的估算，乐观模型到年均 0.7 个百分点。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经济学家管这个叫"生产率悖论"——索洛 1987 年就说过，到处都看得到计算机时代，唯独生产率统计里看不到。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中间的原因有很多，今天我们不展开经济学，只聚焦一个：信息从一个人传到另一个人时，在"汇报/交接"这一步被压成了有损摘要。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现在的 AI coding 工具——Codex、Claude Code——把"一个人怎么和 AI 干活"这条链打磨得很完整。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从最底下一次无状态的 API 请求，到 Agent 循环、记忆注入、沙箱审批、MCP 协议扩展、状态持久，最上面多任务编排，这七层全是围绕你这一个人的 session 跑的。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但你往右边看——多人协作、任务接续、上下文共享、方法复用、执行追溯——这一层，现在的工具基本是空白。这就是 TabTin 切入的位置，也是接下来多智能体协同这个话题要回应的问题。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面对右边那片空白，技术界很自然地想到一个方向：既然一个人调度 agent 能提效，那多来几个 agent 一起干是不是更快？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这就是最近很热的多智能体协同、Agent Teams 这类概念。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但我读下来发现，这件事比"多个 agent 互相发消息"复杂得多。我们接下来花几分钟把它讲透，因为这是理解后面 TabTin 为什么选那条路的钥匙。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左边是子代理：星型，主管派活下属汇报，下属之间不能说话。右边是多智能体协同：网状，队友之间可以直接对话。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最典型的例子——安全审查 agent 发现问题，中途直接喊正在做性能优化的 agent"别把这个写法用到别处"。子代理架构做不到，因为它们之间零通信。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现状：Codex 目前只做到左边；Claude Code 的 Agent Teams 想做右边，但还在研究预览阶段，工具链还在早期。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这一页是整个多智能体话题的核心。左边：A 子代理花十分钟读了二十个文件，回传给主线程的只有一句"建议方案 B"。但 B 子代理可能恰恰需要知道"A 当时为什么否掉了方案 A 里那个边界条件"——这个细节在 A 压缩成摘要时就被扔了。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右边：多智能体协同让发现问题的 agent 和需要这个信息的 agent 直接对话，信息只损耗一次。这其实就是我们 P2 说的"同事接不住你"的 agent 版本。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认知层面也是同一个道理：你自己检查自己的考卷，你会犯的错第二遍还会犯。多个独立视角互相挑错，收敛到同一答案才值得信。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讲到这里必须泼两盆冷水，不然就变成无脑吹多智能体了。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第一盆：多 agent 辩论大约消耗 2 到 5 倍 token。原论文没做"给单 agent 同样多 token"的对照。后来有人补上了，结果发现单 agent 拿同样多的 token 自己深想，不一定差。所以多 agent 买的不是算力，是真正的独立视角。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第二盆更扎心：2026 年一项针对 7 到 8B 参数模型的研究发现，同质小组辩论不仅没有提升准确性，反而比独立自校正多花了 2 到 3.4 倍 token——因为 sycophantic conformity，就是大家一起掉到同一个沟里，还因为"别人也这么说"更自信了。共享同一套训练分布，就共享同一类盲点。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所以那句话记住：同一个模型开三个实例互相点头，那不叫多智能体，叫一场自我肯定的表演。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讲完多智能体协同的坑，现在看 TabTin。它是个开源的人机协作平台，AGPL。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它最有意思的不是做了什么，而是没做什么——没急着让 agent 之间互相聊天，先把人接续人的工作做扎实。这正好是上一条冷水的回响：没有真正异质性的协同，不如不做。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接下来我不堆概念，直接对着它的数据模型走一遍真实流程：怎么建项目、怎么派活、怎么跑、怎么验收沉淀、又怎么交给下一个人。下一页先上总图。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这张图是后面七页的地图。前半段（灰色）是把活干完：建项目、派任务、接任务、跑任务。中间红色箭头是转折点：跑完不代表结束，要验收。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后半段（红框）是把活交出去：责任人验收后把交付物发布进项目资产区，团队都能检索复用；没做完的，打成交接包，连同样料一起给下一个人，他用自己的 Agent 接着干。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底部那条线记住：Agent 和 Workspace 从头到尾是解耦的——一个是"谁"，一个是"哪"。后面每一页都是这张图上的一个节点。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这是理解后面一切的地基。很多产品把"AI 助手"和"工作目录"绑死成一个东西，TabTin 偏不。Agent 是纯身份——它叫什么、目标是什么、守什么规矩、用哪个模型。Workspace 是执行现场——在你哪台电脑的哪个目录里跑，这个目录要先信任，审批多严、每次 run 花多少钱都由现场说了算。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两者不预设绑定，开一次会话才临时拼：谁干 × 在哪干。所以你可以用同一个 Agent，在笔记本的代码目录跑一份活，又在台式机的文档目录跑另一份；也可以同一份目录，今天让这个 Agent 跑、明天换那个跑。这就是后面"接手时选自己的 Agent 和现场"能成立的原因。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建项目分三步。先建一个 Project，它是个团队协作房间。然后拉成员：邀请是发出去的，但接不接对方自己定，状态从待接受变已接受；角色分 owner、admin、editor、viewer。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最关键的一步是第三步——每个人在这个项目里，绑的是自己电脑上、自己那份 Workspace。代码里写得很死：Project 不代表共享本地目录，文件维度始终是 Workspace 的单根契约。也就是说，不存在"大家连同一个网盘文件夹干活"这种事。团队怎么协作？靠任务和资产区，不是靠共享盘。这跟传统团队协作工具的直觉是反的。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一个任务有两套独立的状态，别混。第一套是接不接：派活的人指定责任人，但任务先发成"待确认"，责任人自己点接受或拒绝——不能硬塞。第二套是干到哪：待执行、执行中、待验收、已完成，中间还能受阻或取消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中间这行红字是关键：选 Agent、选现场，不是建任务时定死的，是责任人接受这一刻才定的。所以派活的人只说"这件事你负责"，至于用哪个 AI、在你哪台电脑的哪个目录跑，由接活的人自己拍板。这就把"派活"和"怎么干"两件事分开了。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执行这件事被设计得很"硬"。一次执行就是一个 Run，启动那一刻把谁干、用哪个 Agent、在哪份现场、哪台设备、哪个会话全部快照钉死，之后不能改。而且数据库层面就约束：同一个任务同时只能有一个 Run 在跑，不会两个进程同时动手。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过程不是聊天记录，是一张不可变事件表：每发生一步，追加一条"谁、什么时候、做了什么"，只增不改。所以事后你能完整还原这件事是怎么一步步做出来的。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最后那行红字很关键：Agent 跑完产出的候选东西，在验收前是责任人私有的，团队看不到。这就引出下一页——什么时候、怎么才变成团队的资产。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这就是"沉淀成团队资产"真正发生的那一步，和很多人以为的不一样。Agent 跑完，产物先以候选形式存在，验收前只有责任人看得见。责任人验收时，从这些候选里挑哪些算正式交付物，写个验收结论，然后"发布"。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被发布的东西才进项目资产区，团队所有人可见、能全文检索、能复用。它是一棵知识库树，不是翻不完的聊天记录。资产还分三级挂：你个人的挂自己 Workspace，团队的挂 Project，组织级的挂 Organization。注意——沉淀不是系统自动做的，是责任人验收、点头、发布才发生。这就保证了进团队资产区的都是被认可过的东西。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资产进了区，怎么被新的任务或交接带走？交接包里能带文档、表格、消息、附件，甚至一段 Agent 会话。但不是把你的目录甩过去。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文档表格这种，包里只存摘要，对方看正文时回源读取、按他自己的权限实时校验——他没权限就是没权限，返回一个明确的 access_denied，而不是悄悄什么都看不到。一段 Agent 会话是你个人资产，对方根本回源不了，所以创建时用你的权限读一遍，冻结成一份清洗版快照给他。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设计点就一句：分享不等于开放目录。能回源的就实时鉴权，回不了源的才冻结快照。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任务没做完要交给下一个人时，不是甩一句"你接着弄"，而是打一个交接包。包里固定四块：工作目标、当前进展、下一步 checklist、待确认和风险。材料也跟着带过去（就是上一页讲的两种机制）。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接收人有一条自己的状态机：已发送、已查看、已了解，然后可以"由我继续"开新会话接着干，也可以转手交给自己的 Agent，或者直接拒绝。注意交接不是一个开关，看一眼、表示了解、真接手、交给 AI、拒绝，各是各的权限。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全程 append-only，谁发起、谁看过、谁接手、后来谁补充过都查得到。而且 Agent 自己也能发起交接包——它是一等公民，不只是人手里的工具。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这页回答一个问题：到底是谁在动你的电脑。整个系统分三层。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左边是服务端和多端壳。身份、任务、资产、RAG、记忆、权限这些真源都在服务端 tabtin_django；Electron、网页、手机只是你操作的界面。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右边是本地 daemon，这是关键。它跑在你这台真实机器上（也可以是远程服务器），真正开终端、开浏览器、在授权目录里读写文件、跑 Python、连 MCP、加载技能的，都是它。安全边界也在它这一侧：审批三档和每次 run 的预算，决定它在这台机器上能干多宽。它和服务端之间走一条长连接收任务、回传结果。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所以身份和执行是分离的：Agent 定义在服务端，你在手机上发起任务，服务端把指令路由到你台式机的 daemon 去执行。这就是为什么它能"手机发起、桌面执行"，也能把 daemon 丢到一台服务器上无人值守。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这个项目不是套壳。它开放的是真实产品代码：Electron 桌面端、移动端、服务端、Agent Runtime、实时协作、管理后台，AGPL 协议，可以自己部署。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我读源码时注意到三个架构决策，比功能列表更能说明它想做什么。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第一，Agent 和 Device 是解耦的——Agent 表示"谁参与"，Device 表示"在哪执行"。同一个 Agent 可以在不同电脑上跑，你手机上发起的任务在桌面 Daemon 上执行。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第二，交接不等于共享目录。你的 Workspace 是私有的，任务交接时只带引用材料和上下文，不会把你的整个本地目录甩给同事。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第三，它的检查点叫 Shadow Git——在用户项目目录外面维护一个隐藏仓库，通过 core.worktree 指向你的项目，不污染你自己的 .git。这是"工作可交接"在工程上的具体落地。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当然它现在还是 Public Preview，成熟度参差不齐，这点要有预期。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这一页直接对比。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Codex 和 Claude Code 的设计假设从头到尾就是单用户。Codex 是"派发后走开"，所以用内核级沙箱做硬隔离；Claude Code 是"人在终端前盯着"，所以用 hooks 和 /rewind 做软边界。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TabTin 不一样的地方在最后两行：多人协作和工作交接。它假设一个团队，人和 Agent 一起干活。CRDT 让人和 Agent 同时编辑同一份文档；交接时冻结上下文带引用材料，不是把整个目录甩给同事。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但它不是全赢——coding 深度不如那两个，沙箱也不是内核级。它的定位是：Codex 和 Claude Code 把"一个人跟 AI 干活"磨到了极致，TabTin 站在右边那层空白上，解决"一个人干完了怎么让下一个人接得住"。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把今天讲的两条路放在一起看。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左边多智能体协同，保护的是 agent 之间的独立视角，不让它在层级汇报中被压平。右边 TabTin，保护的是人之间的工作上下文，不让它在交接中被丢掉。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方向不同，但你看下面这行——它们填的是同一道沟：信息从一个工作主体传到另一个工作主体时，别在"汇报/交接"这一步被压成有损摘要。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这就是为什么我说 TabTin 是个影子——它背后是整个 AI 协作领域正在面对的同一个问题。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最后不讲大道理，给一个明天就能试的动作。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下次你用 AI 做完一个东西，别只把最终文件丢给同事。多做一步：把"我当时为什么这么判断、参考了哪几个资料、否掉了哪个方案"一起交出去。哪怕就是在文档开头写三行字。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这就是 TabTin 在工程上自动化的事——冻结上下文、带上引用材料。但不用等平台，今天手动就能开始。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多智能体也好，协作平台也好，核心就一句话：让工作能被下一个人接得住。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最后收一句。今天从生产率悖论聊到多智能体协同，再到 TabTin，核心就这一句：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AI 真正的效率红利，可能不在一个人用多快，而在一群人能不能互相接住。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TabTin 是 AGPL 的开源项目，现在 Public Preview，感兴趣的可以去 GitHub 跑一跑。我自己也是刚接触，有什么想法欢迎一起讨论，问答环节大家随便问。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2.xml.rels><?xml version="1.0" encoding="UTF-8" standalone="yes"?><Relationships xmlns="http://schemas.openxmlformats.org/package/2006/relationships"><Relationship Id="rId1" Target="../slideMasters/slideMaster2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幻灯片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/>
          <p:nvPr>
            <p:ph idx="1" type="subTitle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和内容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节标题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/>
          <p:nvPr>
            <p:ph idx="1" type="body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两栏内容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/>
          <p:nvPr>
            <p:ph idx="1" type="body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/>
          <p:nvPr>
            <p:ph idx="2" type="body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比较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/>
          <p:nvPr>
            <p:ph idx="1" type="body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39" name="Shape 37"/>
          <p:cNvSpPr txBox="1"/>
          <p:nvPr>
            <p:ph idx="2" type="body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/>
          <p:nvPr>
            <p:ph idx="3" type="body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1" name="Shape 39"/>
          <p:cNvSpPr txBox="1"/>
          <p:nvPr>
            <p:ph idx="4" type="body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仅标题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内容与标题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/>
          <p:nvPr>
            <p:ph idx="1" type="body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/>
          <p:nvPr>
            <p:ph idx="2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图片与标题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/>
          <p:nvPr>
            <p:ph idx="2" type="pic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/>
          <p:nvPr>
            <p:ph idx="1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和竖排文字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/>
          <p:nvPr>
            <p:ph idx="1" type="body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竖排标题与文本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/>
          <p:nvPr>
            <p:ph idx="1" type="body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_rels/slideMaster2.xml.rels><?xml version="1.0" encoding="UTF-8" standalone="yes"?><Relationships xmlns="http://schemas.openxmlformats.org/package/2006/relationships"><Relationship Id="rId1" Target="../theme/theme3.xml" Type="http://schemas.openxmlformats.org/officeDocument/2006/relationships/theme"/><Relationship Id="rId2" Target="../slideLayouts/slideLayout12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b="0" i="0" sz="3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Shape 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Shape 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Shape 5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默认主题">
    <p:bg>
      <p:bgPr>
        <a:solidFill>
          <a:srgbClr val="FFFFFF">
            <a:alpha val="100000"/>
          </a:srgbClr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57483699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4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5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5.xml" Type="http://schemas.openxmlformats.org/officeDocument/2006/relationships/notesSlide"/></Relationships>
</file>

<file path=ppt/slides/_rels/slide6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6.xml" Type="http://schemas.openxmlformats.org/officeDocument/2006/relationships/notesSlide"/></Relationships>
</file>

<file path=ppt/slides/_rels/slide7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7.xml" Type="http://schemas.openxmlformats.org/officeDocument/2006/relationships/notesSlide"/></Relationships>
</file>

<file path=ppt/slides/_rels/slide8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8.xml" Type="http://schemas.openxmlformats.org/officeDocument/2006/relationships/notesSlide"/></Relationships>
</file>

<file path=ppt/slides/_rels/slide9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9.xml" Type="http://schemas.openxmlformats.org/officeDocument/2006/relationships/notesSlide"/></Relationships>
</file>

<file path=ppt/slides/_rels/slide10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10.xml" Type="http://schemas.openxmlformats.org/officeDocument/2006/relationships/notesSlide"/></Relationships>
</file>

<file path=ppt/slides/_rels/slide11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11.xml" Type="http://schemas.openxmlformats.org/officeDocument/2006/relationships/notesSlide"/></Relationships>
</file>

<file path=ppt/slides/_rels/slide12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12.xml" Type="http://schemas.openxmlformats.org/officeDocument/2006/relationships/notesSlide"/></Relationships>
</file>

<file path=ppt/slides/_rels/slide13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13.xml" Type="http://schemas.openxmlformats.org/officeDocument/2006/relationships/notesSlide"/></Relationships>
</file>

<file path=ppt/slides/_rels/slide14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14.xml" Type="http://schemas.openxmlformats.org/officeDocument/2006/relationships/notesSlide"/></Relationships>
</file>

<file path=ppt/slides/_rels/slide15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15.xml" Type="http://schemas.openxmlformats.org/officeDocument/2006/relationships/notesSlide"/></Relationships>
</file>

<file path=ppt/slides/_rels/slide16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16.xml" Type="http://schemas.openxmlformats.org/officeDocument/2006/relationships/notesSlide"/></Relationships>
</file>

<file path=ppt/slides/_rels/slide17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17.xml" Type="http://schemas.openxmlformats.org/officeDocument/2006/relationships/notesSlide"/></Relationships>
</file>

<file path=ppt/slides/_rels/slide18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18.xml" Type="http://schemas.openxmlformats.org/officeDocument/2006/relationships/notesSlide"/></Relationships>
</file>

<file path=ppt/slides/_rels/slide19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19.xml" Type="http://schemas.openxmlformats.org/officeDocument/2006/relationships/notesSlide"/></Relationships>
</file>

<file path=ppt/slides/_rels/slide20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20.xml" Type="http://schemas.openxmlformats.org/officeDocument/2006/relationships/notesSlide"/></Relationships>
</file>

<file path=ppt/slides/_rels/slide21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21.xml" Type="http://schemas.openxmlformats.org/officeDocument/2006/relationships/notesSlide"/></Relationships>
</file>

<file path=ppt/slides/_rels/slide22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22.xml" Type="http://schemas.openxmlformats.org/officeDocument/2006/relationships/notesSlide"/></Relationships>
</file>

<file path=ppt/slides/_rels/slide23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23.xml" Type="http://schemas.openxmlformats.org/officeDocument/2006/relationships/notesSlide"/><Relationship Id="rId3" Target="../media/image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1016000" y="1397000"/>
            <a:ext cx="508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技术分享 · 开源项目观察</a:t>
            </a:r>
            <a:endParaRPr lang="en-US" sz="1100"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2032000"/>
            <a:ext cx="10160000" cy="1016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00000"/>
              </a:lnSpc>
              <a:defRPr/>
            </a:pPr>
            <a:r>
              <a:rPr lang="en-US" b="true" i="false" strike="noStrike" u="none" sz="48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从一个人爽，到一群人接住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1016000" y="3302000"/>
            <a:ext cx="609600" cy="38100"/>
          </a:xfrm>
          <a:prstGeom prst="roundRect">
            <a:avLst>
              <a:gd name="adj" fmla="val 0"/>
            </a:avLst>
          </a:prstGeom>
          <a:solidFill>
            <a:srgbClr val="C9302C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1016000" y="3619500"/>
            <a:ext cx="9652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0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开源项目 TabTin，以及它背后那道 AI 协作还没跨过去的沟</a:t>
            </a:r>
            <a:endParaRPr lang="en-US" sz="1100"/>
          </a:p>
        </p:txBody>
      </p:sp>
      <p:sp>
        <p:nvSpPr>
          <p:cNvPr name="AutoShape 6" id="6"/>
          <p:cNvSpPr/>
          <p:nvPr/>
        </p:nvSpPr>
        <p:spPr>
          <a:xfrm rot="0" flipH="false" flipV="false">
            <a:off x="1016000" y="5842000"/>
            <a:ext cx="508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部门技术交流 · 2026.09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1016000" y="762000"/>
            <a:ext cx="508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01 · 开场</a:t>
            </a:r>
            <a:endParaRPr lang="en-US" sz="1100"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1206500"/>
            <a:ext cx="101600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32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你让 AI 做的东西，同事接得住吗？</a:t>
            </a:r>
            <a:endParaRPr lang="en-US" sz="1100"/>
          </a:p>
        </p:txBody>
      </p:sp>
      <p:cxnSp>
        <p:nvCxnSpPr>
          <p:cNvPr name="Connector 4" id="4"/>
          <p:cNvCxnSpPr/>
          <p:nvPr/>
        </p:nvCxnSpPr>
        <p:spPr>
          <a:xfrm rot="-4297" flipH="false" flipV="false">
            <a:off x="1016004" y="2152650"/>
            <a:ext cx="10160008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5" id="5"/>
          <p:cNvSpPr/>
          <p:nvPr/>
        </p:nvSpPr>
        <p:spPr>
          <a:xfrm rot="0" flipH="false" flipV="false">
            <a:off x="1016000" y="2540000"/>
            <a:ext cx="10160000" cy="152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50000"/>
              </a:lnSpc>
              <a:defRPr/>
            </a:pPr>
            <a:r>
              <a:rPr lang="en-US" b="false" i="false" strike="noStrike" u="none" sz="18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你昨天让 AI 帮你做了一下午竞品调研，今天同事接手，</a:t>
            </a:r>
            <a:endParaRPr lang="en-US" sz="1100"/>
          </a:p>
          <a:p>
            <a:pPr algn="l" marL="0" indent="0">
              <a:lnSpc>
                <a:spcPct val="150000"/>
              </a:lnSpc>
            </a:pPr>
            <a:r>
              <a:rPr lang="en-US" b="false" i="false" strike="noStrike" u="none" sz="18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第一句话是：</a:t>
            </a:r>
            <a:r>
              <a:rPr lang="en-US" b="true" i="false" strike="noStrike" u="none" sz="18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"这个结论怎么来的？那个数据源链接呢？"</a:t>
            </a:r>
            <a:r>
              <a:rPr lang="en-US" b="false" i="false" strike="noStrike" u="none" sz="18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marL="0" indent="0">
              <a:lnSpc>
                <a:spcPct val="150000"/>
              </a:lnSpc>
            </a:pPr>
            <a:r>
              <a:rPr lang="en-US" b="false" i="false" strike="noStrike" u="none" sz="18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你得翻两百条聊天记录，才能把当时的判断依据找出来。</a:t>
            </a:r>
          </a:p>
        </p:txBody>
      </p:sp>
      <p:sp>
        <p:nvSpPr>
          <p:cNvPr name="AutoShape 6" id="6"/>
          <p:cNvSpPr/>
          <p:nvPr/>
        </p:nvSpPr>
        <p:spPr>
          <a:xfrm rot="0" flipH="false" flipV="false">
            <a:off x="1016000" y="4826000"/>
            <a:ext cx="50800" cy="762000"/>
          </a:xfrm>
          <a:prstGeom prst="roundRect">
            <a:avLst>
              <a:gd name="adj" fmla="val 0"/>
            </a:avLst>
          </a:prstGeom>
          <a:solidFill>
            <a:srgbClr val="C9302C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320800" y="4826000"/>
            <a:ext cx="9906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false" i="false" strike="noStrike" u="none" sz="17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这不是你不负责。是现在的工具帮你把活干完了，却</a:t>
            </a:r>
            <a:r>
              <a:rPr lang="en-US" b="true" i="false" strike="noStrike" u="none" sz="17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没帮你把过程留下来</a:t>
            </a:r>
            <a:r>
              <a:rPr lang="en-US" b="false" i="false" strike="noStrike" u="none" sz="17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1016000" y="762000"/>
            <a:ext cx="508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01 · 开场</a:t>
            </a:r>
            <a:endParaRPr lang="en-US" sz="1100"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1206500"/>
            <a:ext cx="1016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8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这不是体感，是统计数字里的鸿沟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1016000" y="2413000"/>
            <a:ext cx="4318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5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受控实验中个人编码效率提升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1016000" y="2857500"/>
            <a:ext cx="4318000" cy="1397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80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20–55%</a:t>
            </a:r>
            <a:endParaRPr lang="en-US" sz="1100"/>
          </a:p>
        </p:txBody>
      </p:sp>
      <p:sp>
        <p:nvSpPr>
          <p:cNvPr name="AutoShape 6" id="6"/>
          <p:cNvSpPr/>
          <p:nvPr/>
        </p:nvSpPr>
        <p:spPr>
          <a:xfrm rot="0" flipH="false" flipV="false">
            <a:off x="5588000" y="3175000"/>
            <a:ext cx="1016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48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≠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6858000" y="2413000"/>
            <a:ext cx="4318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5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十年 TFP 提升（保守估算）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6858000" y="2857500"/>
            <a:ext cx="4318000" cy="1397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80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~0.5%</a:t>
            </a:r>
            <a:endParaRPr lang="en-US" sz="1100"/>
          </a:p>
        </p:txBody>
      </p:sp>
      <p:cxnSp>
        <p:nvCxnSpPr>
          <p:cNvPr name="Connector 9" id="9"/>
          <p:cNvCxnSpPr/>
          <p:nvPr/>
        </p:nvCxnSpPr>
        <p:spPr>
          <a:xfrm rot="-4297" flipH="false" flipV="false">
            <a:off x="1016004" y="4946650"/>
            <a:ext cx="10160008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0" id="10"/>
          <p:cNvSpPr/>
          <p:nvPr/>
        </p:nvSpPr>
        <p:spPr>
          <a:xfrm rot="0" flipH="false" flipV="false">
            <a:off x="1016000" y="5207000"/>
            <a:ext cx="10160000" cy="889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41666"/>
              </a:lnSpc>
              <a:defRPr/>
            </a:pPr>
            <a:r>
              <a:rPr lang="en-US" b="false" i="false" strike="noStrike" u="none" sz="15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这就是"生产率悖论"在 AI 时代的重演：索洛 1987 年说"到处都看得到计算机时代，唯独生产率统计里看不到"。</a:t>
            </a:r>
            <a:endParaRPr lang="en-US" sz="1100"/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5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中间隔着测度、时滞、组织再造——今天我们只聊其中一道：</a:t>
            </a:r>
            <a:r>
              <a:rPr lang="en-US" b="true" i="false" strike="noStrike" u="none" sz="15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信息在交接中被压平的那道沟</a:t>
            </a:r>
            <a:r>
              <a:rPr lang="en-US" b="false" i="false" strike="noStrike" u="none" sz="15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1016000" y="762000"/>
            <a:ext cx="508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02 · 现状</a:t>
            </a:r>
            <a:endParaRPr lang="en-US" sz="1100"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1206500"/>
            <a:ext cx="1016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8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单用户这条链，已经被磨得很完整了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1016000" y="2032000"/>
            <a:ext cx="5080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Codex / Claude Code 这类 coding agent 的技术栈（自下而上）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1016000" y="2413000"/>
            <a:ext cx="5080000" cy="4318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6" id="6"/>
          <p:cNvSpPr/>
          <p:nvPr/>
        </p:nvSpPr>
        <p:spPr>
          <a:xfrm rot="0" flipH="false" flipV="false">
            <a:off x="1168400" y="2413000"/>
            <a:ext cx="4826000" cy="431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编排</a:t>
            </a:r>
            <a:r>
              <a:rPr lang="en-US" b="false" i="false" strike="noStrike" u="none" sz="13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　子代理 · 并行 fan-out · 云端异步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16000" y="2895600"/>
            <a:ext cx="5080000" cy="4318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168400" y="2895600"/>
            <a:ext cx="4826000" cy="431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状态持久</a:t>
            </a:r>
            <a:r>
              <a:rPr lang="en-US" b="false" i="false" strike="noStrike" u="none" sz="13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　checkpoint 回滚 · worktree 隔离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016000" y="3378200"/>
            <a:ext cx="5080000" cy="4318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168400" y="3378200"/>
            <a:ext cx="4826000" cy="431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协议扩展</a:t>
            </a:r>
            <a:r>
              <a:rPr lang="en-US" b="false" i="false" strike="noStrike" u="none" sz="13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　MCP 工具协议 · Hooks 治理钩子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1016000" y="3860800"/>
            <a:ext cx="5080000" cy="4318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1168400" y="3860800"/>
            <a:ext cx="4826000" cy="431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沙箱与权限</a:t>
            </a:r>
            <a:r>
              <a:rPr lang="en-US" b="false" i="false" strike="noStrike" u="none" sz="13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　审批策略 · OS 级隔离 · 路径白名单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1016000" y="4343400"/>
            <a:ext cx="5080000" cy="4318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1168400" y="4343400"/>
            <a:ext cx="4826000" cy="431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记忆与上下文</a:t>
            </a:r>
            <a:r>
              <a:rPr lang="en-US" b="false" i="false" strike="noStrike" u="none" sz="13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　系统指令 · 项目记忆 · 压缩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1016000" y="4826000"/>
            <a:ext cx="5080000" cy="4318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1168400" y="4826000"/>
            <a:ext cx="4826000" cy="431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Agent 循环</a:t>
            </a:r>
            <a:r>
              <a:rPr lang="en-US" b="false" i="false" strike="noStrike" u="none" sz="13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　tool_use ⇄ tool_result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1016000" y="5308600"/>
            <a:ext cx="5080000" cy="431800"/>
          </a:xfrm>
          <a:prstGeom prst="roundRect">
            <a:avLst>
              <a:gd name="adj" fmla="val 0"/>
            </a:avLst>
          </a:prstGeom>
          <a:solidFill>
            <a:srgbClr val="0D1326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1168400" y="5308600"/>
            <a:ext cx="4826000" cy="431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模型</a:t>
            </a:r>
            <a:r>
              <a:rPr lang="en-US" b="false" i="false" strike="noStrike" u="none" sz="13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　一次无状态的 API 请求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6858000" y="2413000"/>
            <a:ext cx="4318000" cy="3327400"/>
          </a:xfrm>
          <a:prstGeom prst="roundRect">
            <a:avLst>
              <a:gd name="adj" fmla="val 0"/>
            </a:avLst>
          </a:prstGeom>
          <a:solidFill>
            <a:srgbClr val="C9302C">
              <a:alpha val="4000"/>
            </a:srgbClr>
          </a:solidFill>
          <a:ln w="12700" cmpd="sng" cap="flat">
            <a:solidFill>
              <a:srgbClr val="C9302C">
                <a:alpha val="100000"/>
              </a:srgbClr>
            </a:solidFill>
            <a:prstDash val="dash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7112000" y="2667000"/>
            <a:ext cx="381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团队协作层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7112000" y="3175000"/>
            <a:ext cx="3810000" cy="2286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58333"/>
              </a:lnSpc>
              <a:defRPr/>
            </a:pP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· 多人任务接续</a:t>
            </a:r>
            <a:endParaRPr lang="en-US" sz="1100"/>
          </a:p>
          <a:p>
            <a:pPr algn="l" marL="0" indent="0">
              <a:lnSpc>
                <a:spcPct val="158333"/>
              </a:lnSpc>
            </a:pP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· 工作上下文共享</a:t>
            </a:r>
          </a:p>
          <a:p>
            <a:pPr algn="l" marL="0" indent="0">
              <a:lnSpc>
                <a:spcPct val="158333"/>
              </a:lnSpc>
            </a:pP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· 方法/Skill 复用</a:t>
            </a:r>
          </a:p>
          <a:p>
            <a:pPr algn="l" marL="0" indent="0">
              <a:lnSpc>
                <a:spcPct val="158333"/>
              </a:lnSpc>
            </a:pP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· 执行记录与追溯</a:t>
            </a:r>
          </a:p>
          <a:p>
            <a:pPr algn="l" marL="0" indent="0">
              <a:lnSpc>
                <a:spcPct val="158333"/>
              </a:lnSpc>
            </a:pP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· 权限与用量治理</a:t>
            </a:r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7112000" y="5308600"/>
            <a:ext cx="381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这一层基本是空白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0D1326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1016000" y="2286000"/>
            <a:ext cx="1016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03 · 技术界的一种回答</a:t>
            </a:r>
            <a:endParaRPr lang="en-US" sz="1100"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2857500"/>
            <a:ext cx="10160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36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一个很自然的想法：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1016000" y="3683000"/>
            <a:ext cx="10160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3600">
                <a:solidFill>
                  <a:srgbClr val="D4E9F7"/>
                </a:solidFill>
                <a:latin typeface="Noto Sans SC"/>
                <a:ea typeface="Noto Sans SC"/>
                <a:cs typeface="Noto Sans SC"/>
                <a:sym typeface="Noto Sans SC"/>
              </a:rPr>
              <a:t>既然一个人用 Agent 快，多来几个一起干？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1016000" y="4826000"/>
            <a:ext cx="1016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6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这就是"多智能体协同"热起来的起点——但它比"多个 agent 聊天"复杂得多，也有坑。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1016000" y="762000"/>
            <a:ext cx="508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03 · 技术界的一种回答</a:t>
            </a:r>
            <a:endParaRPr lang="en-US" sz="1100"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1206500"/>
            <a:ext cx="1016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8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先别混：这是两种拓扑，不是版本升级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1016000" y="1968500"/>
            <a:ext cx="4826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子代理　星型 / 层级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8568096" flipH="false" flipV="false">
            <a:off x="2318814" y="3086044"/>
            <a:ext cx="886729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94A3B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6" id="6"/>
          <p:cNvCxnSpPr/>
          <p:nvPr/>
        </p:nvCxnSpPr>
        <p:spPr>
          <a:xfrm rot="8469630" flipH="false" flipV="false">
            <a:off x="2318814" y="4013256"/>
            <a:ext cx="886729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94A3B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7" id="7"/>
          <p:cNvCxnSpPr/>
          <p:nvPr/>
        </p:nvCxnSpPr>
        <p:spPr>
          <a:xfrm rot="-2330369" flipH="false" flipV="false">
            <a:off x="3652457" y="3086044"/>
            <a:ext cx="886729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94A3B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8" id="8"/>
          <p:cNvCxnSpPr/>
          <p:nvPr/>
        </p:nvCxnSpPr>
        <p:spPr>
          <a:xfrm rot="2231903" flipH="false" flipV="false">
            <a:off x="3652457" y="4013256"/>
            <a:ext cx="886729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94A3B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9" id="9"/>
          <p:cNvSpPr/>
          <p:nvPr/>
        </p:nvSpPr>
        <p:spPr>
          <a:xfrm rot="0" flipH="false" flipV="false">
            <a:off x="2921000" y="3365500"/>
            <a:ext cx="1016000" cy="406400"/>
          </a:xfrm>
          <a:prstGeom prst="roundRect">
            <a:avLst>
              <a:gd name="adj" fmla="val 0"/>
            </a:avLst>
          </a:prstGeom>
          <a:solidFill>
            <a:srgbClr val="0D1326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主线程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651000" y="2476500"/>
            <a:ext cx="762000" cy="3302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1651000" y="4127500"/>
            <a:ext cx="762000" cy="3302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4445000" y="2476500"/>
            <a:ext cx="762000" cy="3302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4445000" y="4127500"/>
            <a:ext cx="762000" cy="3302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1016000" y="5016500"/>
            <a:ext cx="4826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fals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下属只能向主线程汇报，彼此零通信；主线程单点分发、汇总，token 省但有单点瓶颈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6350000" y="1968500"/>
            <a:ext cx="4826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多智能体协同　网状 / 对等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6731000" y="2476500"/>
            <a:ext cx="812800" cy="330200"/>
          </a:xfrm>
          <a:prstGeom prst="roundRect">
            <a:avLst>
              <a:gd name="adj" fmla="val 0"/>
            </a:avLst>
          </a:prstGeom>
          <a:solidFill>
            <a:srgbClr val="C9302C">
              <a:alpha val="12000"/>
            </a:srgbClr>
          </a:solidFill>
          <a:ln w="12700" cmpd="sng" cap="flat">
            <a:solidFill>
              <a:srgbClr val="C9302C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8382000" y="2349500"/>
            <a:ext cx="812800" cy="330200"/>
          </a:xfrm>
          <a:prstGeom prst="roundRect">
            <a:avLst>
              <a:gd name="adj" fmla="val 0"/>
            </a:avLst>
          </a:prstGeom>
          <a:solidFill>
            <a:srgbClr val="C9302C">
              <a:alpha val="12000"/>
            </a:srgbClr>
          </a:solidFill>
          <a:ln w="12700" cmpd="sng" cap="flat">
            <a:solidFill>
              <a:srgbClr val="C9302C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9906000" y="2857500"/>
            <a:ext cx="812800" cy="330200"/>
          </a:xfrm>
          <a:prstGeom prst="roundRect">
            <a:avLst>
              <a:gd name="adj" fmla="val 0"/>
            </a:avLst>
          </a:prstGeom>
          <a:solidFill>
            <a:srgbClr val="C9302C">
              <a:alpha val="12000"/>
            </a:srgbClr>
          </a:solidFill>
          <a:ln w="12700" cmpd="sng" cap="flat">
            <a:solidFill>
              <a:srgbClr val="C9302C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9144000" y="3873500"/>
            <a:ext cx="812800" cy="330200"/>
          </a:xfrm>
          <a:prstGeom prst="roundRect">
            <a:avLst>
              <a:gd name="adj" fmla="val 0"/>
            </a:avLst>
          </a:prstGeom>
          <a:solidFill>
            <a:srgbClr val="C9302C">
              <a:alpha val="12000"/>
            </a:srgbClr>
          </a:solidFill>
          <a:ln w="12700" cmpd="sng" cap="flat">
            <a:solidFill>
              <a:srgbClr val="C9302C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7112000" y="3746500"/>
            <a:ext cx="812800" cy="330200"/>
          </a:xfrm>
          <a:prstGeom prst="roundRect">
            <a:avLst>
              <a:gd name="adj" fmla="val 0"/>
            </a:avLst>
          </a:prstGeom>
          <a:solidFill>
            <a:srgbClr val="C9302C">
              <a:alpha val="12000"/>
            </a:srgbClr>
          </a:solidFill>
          <a:ln w="12700" cmpd="sng" cap="flat">
            <a:solidFill>
              <a:srgbClr val="C9302C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7620000" y="2438400"/>
            <a:ext cx="635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↔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9334500" y="2540000"/>
            <a:ext cx="635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↔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9779000" y="3429000"/>
            <a:ext cx="635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↔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8382000" y="3810000"/>
            <a:ext cx="635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↔</a:t>
            </a:r>
            <a:endParaRPr lang="en-US" sz="1100"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6921500" y="3111500"/>
            <a:ext cx="635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↔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6350000" y="5016500"/>
            <a:ext cx="4826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fals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队友之间直接喊话；共享任务看板、文件锁、依赖自动调度——但 token 更贵、调试更复杂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1016000" y="762000"/>
            <a:ext cx="508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03 · 技术界的一种回答</a:t>
            </a:r>
            <a:endParaRPr lang="en-US" sz="1100"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1206500"/>
            <a:ext cx="1016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8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它真正填的，是"汇报"这一步的损耗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1016000" y="2095500"/>
            <a:ext cx="4826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子代理：信息被压缩两次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1016000" y="2540000"/>
            <a:ext cx="1651000" cy="7112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A 读了 20 个文件</a:t>
            </a:r>
            <a:endParaRPr lang="en-US" sz="1100"/>
          </a:p>
        </p:txBody>
      </p:sp>
      <p:cxnSp>
        <p:nvCxnSpPr>
          <p:cNvPr name="Connector 6" id="6"/>
          <p:cNvCxnSpPr/>
          <p:nvPr/>
        </p:nvCxnSpPr>
        <p:spPr>
          <a:xfrm rot="-85898" flipH="false" flipV="false">
            <a:off x="2667079" y="2889250"/>
            <a:ext cx="508159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94A3B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7" id="7"/>
          <p:cNvSpPr/>
          <p:nvPr/>
        </p:nvSpPr>
        <p:spPr>
          <a:xfrm rot="0" flipH="false" flipV="false">
            <a:off x="3175000" y="2540000"/>
            <a:ext cx="1651000" cy="711200"/>
          </a:xfrm>
          <a:prstGeom prst="roundRect">
            <a:avLst>
              <a:gd name="adj" fmla="val 0"/>
            </a:avLst>
          </a:prstGeom>
          <a:solidFill>
            <a:srgbClr val="FEF2F2">
              <a:alpha val="100000"/>
            </a:srgbClr>
          </a:solidFill>
          <a:ln w="12700" cmpd="sng" cap="flat">
            <a:solidFill>
              <a:srgbClr val="C9302C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压缩成一句话摘要</a:t>
            </a:r>
            <a:endParaRPr lang="en-US" sz="1100"/>
          </a:p>
        </p:txBody>
      </p:sp>
      <p:cxnSp>
        <p:nvCxnSpPr>
          <p:cNvPr name="Connector 8" id="8"/>
          <p:cNvCxnSpPr/>
          <p:nvPr/>
        </p:nvCxnSpPr>
        <p:spPr>
          <a:xfrm rot="-85898" flipH="false" flipV="false">
            <a:off x="4826079" y="2889250"/>
            <a:ext cx="508159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94A3B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9" id="9"/>
          <p:cNvSpPr/>
          <p:nvPr/>
        </p:nvSpPr>
        <p:spPr>
          <a:xfrm rot="0" flipH="false" flipV="false">
            <a:off x="1016000" y="3556000"/>
            <a:ext cx="4826000" cy="711200"/>
          </a:xfrm>
          <a:prstGeom prst="roundRect">
            <a:avLst>
              <a:gd name="adj" fmla="val 0"/>
            </a:avLst>
          </a:prstGeom>
          <a:noFill/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"建议方案 B"——哪一行代码、哪个边界条件、为什么否掉方案 A，</a:t>
            </a:r>
            <a:endParaRPr lang="en-US" sz="1100"/>
          </a:p>
          <a:p>
            <a:pPr algn="ctr" marL="0" indent="0">
              <a:lnSpc>
                <a:spcPct val="125000"/>
              </a:lnSpc>
            </a:pPr>
            <a:r>
              <a:rPr lang="en-US" b="fals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这些细节在压缩时已经被扔了；主线程再转述一次，又衰减一次</a:t>
            </a:r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6350000" y="2095500"/>
            <a:ext cx="4826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多智能体协同：点对点，只损耗一次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6350000" y="2540000"/>
            <a:ext cx="1651000" cy="711200"/>
          </a:xfrm>
          <a:prstGeom prst="roundRect">
            <a:avLst>
              <a:gd name="adj" fmla="val 0"/>
            </a:avLst>
          </a:prstGeom>
          <a:solidFill>
            <a:srgbClr val="C9302C">
              <a:alpha val="12000"/>
            </a:srgbClr>
          </a:solidFill>
          <a:ln w="12700" cmpd="sng" cap="flat">
            <a:solidFill>
              <a:srgbClr val="C9302C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A 发现了关键细节</a:t>
            </a:r>
            <a:endParaRPr lang="en-US" sz="1100"/>
          </a:p>
        </p:txBody>
      </p:sp>
      <p:cxnSp>
        <p:nvCxnSpPr>
          <p:cNvPr name="Connector 12" id="12"/>
          <p:cNvCxnSpPr/>
          <p:nvPr/>
        </p:nvCxnSpPr>
        <p:spPr>
          <a:xfrm rot="-34374" flipH="false" flipV="false">
            <a:off x="8001032" y="2889250"/>
            <a:ext cx="1270063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mpd="sng" cap="flat">
            <a:solidFill>
              <a:srgbClr val="C9302C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name="AutoShape 13" id="13"/>
          <p:cNvSpPr/>
          <p:nvPr/>
        </p:nvSpPr>
        <p:spPr>
          <a:xfrm rot="0" flipH="false" flipV="false">
            <a:off x="8128000" y="2603500"/>
            <a:ext cx="1016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直接喊你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9271000" y="2540000"/>
            <a:ext cx="1651000" cy="711200"/>
          </a:xfrm>
          <a:prstGeom prst="roundRect">
            <a:avLst>
              <a:gd name="adj" fmla="val 0"/>
            </a:avLst>
          </a:prstGeom>
          <a:solidFill>
            <a:srgbClr val="C9302C">
              <a:alpha val="12000"/>
            </a:srgbClr>
          </a:solidFill>
          <a:ln w="12700" cmpd="sng" cap="flat">
            <a:solidFill>
              <a:srgbClr val="C9302C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B 直接收到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6350000" y="3556000"/>
            <a:ext cx="4826000" cy="711200"/>
          </a:xfrm>
          <a:prstGeom prst="roundRect">
            <a:avLst>
              <a:gd name="adj" fmla="val 0"/>
            </a:avLst>
          </a:prstGeom>
          <a:noFill/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发现问题的和需要这个信息的直接对话</a:t>
            </a:r>
            <a:endParaRPr lang="en-US" sz="1100"/>
          </a:p>
          <a:p>
            <a:pPr algn="ctr" marL="0" indent="0">
              <a:lnSpc>
                <a:spcPct val="125000"/>
              </a:lnSpc>
            </a:pPr>
            <a:r>
              <a:rPr lang="en-US" b="fals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这正是 P2 那个"同事接不住"的 agent 版本</a:t>
            </a:r>
          </a:p>
        </p:txBody>
      </p:sp>
      <p:cxnSp>
        <p:nvCxnSpPr>
          <p:cNvPr name="Connector 16" id="16"/>
          <p:cNvCxnSpPr/>
          <p:nvPr/>
        </p:nvCxnSpPr>
        <p:spPr>
          <a:xfrm rot="-4297" flipH="false" flipV="false">
            <a:off x="1016004" y="4819650"/>
            <a:ext cx="10160008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7" id="17"/>
          <p:cNvSpPr/>
          <p:nvPr/>
        </p:nvSpPr>
        <p:spPr>
          <a:xfrm rot="0" flipH="false" flipV="false">
            <a:off x="1016000" y="5080000"/>
            <a:ext cx="10160000" cy="889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41666"/>
              </a:lnSpc>
              <a:defRPr/>
            </a:pPr>
            <a:r>
              <a:rPr lang="en-US" b="false" i="false" strike="noStrike" u="none" sz="15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认知层面也一样：</a:t>
            </a:r>
            <a:r>
              <a:rPr lang="en-US" b="true" i="false" strike="noStrike" u="none" sz="15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自己检查自己的考卷，盲点是同一类的</a:t>
            </a:r>
            <a:r>
              <a:rPr lang="en-US" b="false" i="false" strike="noStrike" u="none" sz="15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endParaRPr lang="en-US" sz="1100"/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5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多个独立视角互相挑错，收敛到同一答案才可信；没收敛的分歧点，正好标出哪里有不确定性。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1016000" y="762000"/>
            <a:ext cx="508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03 · 技术界的一种回答</a:t>
            </a:r>
            <a:endParaRPr lang="en-US" sz="1100"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1206500"/>
            <a:ext cx="1016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8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但别急着上：两盆冷水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1016000" y="2159000"/>
            <a:ext cx="4826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冷水一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1016000" y="2540000"/>
            <a:ext cx="4826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同样多的 token，单 agent 不一定输</a:t>
            </a:r>
            <a:endParaRPr lang="en-US" sz="1100"/>
          </a:p>
        </p:txBody>
      </p:sp>
      <p:sp>
        <p:nvSpPr>
          <p:cNvPr name="AutoShape 6" id="6"/>
          <p:cNvSpPr/>
          <p:nvPr/>
        </p:nvSpPr>
        <p:spPr>
          <a:xfrm rot="0" flipH="false" flipV="false">
            <a:off x="1016000" y="3238500"/>
            <a:ext cx="4826000" cy="1397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41666"/>
              </a:lnSpc>
              <a:defRPr/>
            </a:pP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多 agent 辩论约消耗 </a:t>
            </a:r>
            <a:r>
              <a:rPr lang="en-US" b="true" i="false" strike="noStrike" u="none" sz="14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2–5 倍 token</a:t>
            </a: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。但原论文没做对照——后来补上：给单 agent 同样多的 token 让它自己深想，结果能匹配甚至超过多 agent。</a:t>
            </a:r>
            <a:endParaRPr lang="en-US" sz="1100"/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它买的不是算力效率，是"独立视角"这个更结构化的东西。</a:t>
            </a:r>
          </a:p>
        </p:txBody>
      </p:sp>
      <p:cxnSp>
        <p:nvCxnSpPr>
          <p:cNvPr name="Connector 7" id="7"/>
          <p:cNvCxnSpPr/>
          <p:nvPr/>
        </p:nvCxnSpPr>
        <p:spPr>
          <a:xfrm rot="5384374" flipH="false" flipV="false">
            <a:off x="4698986" y="3676679"/>
            <a:ext cx="2794029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8" id="8"/>
          <p:cNvSpPr/>
          <p:nvPr/>
        </p:nvSpPr>
        <p:spPr>
          <a:xfrm rot="0" flipH="false" flipV="false">
            <a:off x="6477000" y="2159000"/>
            <a:ext cx="4826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冷水二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6477000" y="2540000"/>
            <a:ext cx="4826000" cy="1016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44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共识崩塌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6477000" y="3619500"/>
            <a:ext cx="4826000" cy="152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41666"/>
              </a:lnSpc>
              <a:defRPr/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2026 年一项针对 7–8B 模型的研究发现：</a:t>
            </a:r>
            <a:r>
              <a:rPr lang="en-US" b="true" i="false" strike="noStrike" u="none" sz="13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同质小组辩论不仅没有提升准确性，反而比独立自校正多花 2.1–3.4 倍 token</a:t>
            </a: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——大家一起掉到同一个沟里，还因为"别人也这么说"更自信了。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1016000" y="5524500"/>
            <a:ext cx="50800" cy="508000"/>
          </a:xfrm>
          <a:prstGeom prst="roundRect">
            <a:avLst>
              <a:gd name="adj" fmla="val 0"/>
            </a:avLst>
          </a:prstGeom>
          <a:solidFill>
            <a:srgbClr val="C9302C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1320800" y="5524500"/>
            <a:ext cx="9906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5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同一个模型开三个实例互相点头，那不叫多智能体，叫一场</a:t>
            </a:r>
            <a:r>
              <a:rPr lang="en-US" b="true" i="false" strike="noStrike" u="none" sz="15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自我肯定的表演</a:t>
            </a:r>
            <a:r>
              <a:rPr lang="en-US" b="false" i="false" strike="noStrike" u="none" sz="15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1016000" y="762000"/>
            <a:ext cx="508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04 · 一个开源项目的观察</a:t>
            </a:r>
            <a:endParaRPr lang="en-US" sz="1100"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1206500"/>
            <a:ext cx="1016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8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现在看 TabTin：它选了一条不同的路</a:t>
            </a:r>
            <a:endParaRPr lang="en-US" sz="1100"/>
          </a:p>
        </p:txBody>
      </p:sp>
      <p:cxnSp>
        <p:nvCxnSpPr>
          <p:cNvPr name="Connector 4" id="4"/>
          <p:cNvCxnSpPr/>
          <p:nvPr/>
        </p:nvCxnSpPr>
        <p:spPr>
          <a:xfrm rot="-4297" flipH="false" flipV="false">
            <a:off x="1016004" y="2025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5" id="5"/>
          <p:cNvSpPr/>
          <p:nvPr/>
        </p:nvSpPr>
        <p:spPr>
          <a:xfrm rot="0" flipH="false" flipV="false">
            <a:off x="1016000" y="2794000"/>
            <a:ext cx="10160000" cy="1143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30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不急着让 Agent 互相聊天，</a:t>
            </a:r>
            <a:endParaRPr lang="en-US" sz="1100"/>
          </a:p>
          <a:p>
            <a:pPr algn="l" marL="0" indent="0">
              <a:lnSpc>
                <a:spcPct val="116666"/>
              </a:lnSpc>
            </a:pPr>
            <a:r>
              <a:rPr lang="en-US" b="false" i="false" strike="noStrike" u="none" sz="30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先把</a:t>
            </a:r>
            <a:r>
              <a:rPr lang="en-US" b="true" i="false" strike="noStrike" u="none" sz="30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"人接续人的工作"</a:t>
            </a:r>
            <a:r>
              <a:rPr lang="en-US" b="false" i="false" strike="noStrike" u="none" sz="30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做扎实。</a:t>
            </a:r>
          </a:p>
        </p:txBody>
      </p:sp>
      <p:sp>
        <p:nvSpPr>
          <p:cNvPr name="AutoShape 6" id="6"/>
          <p:cNvSpPr/>
          <p:nvPr/>
        </p:nvSpPr>
        <p:spPr>
          <a:xfrm rot="0" flipH="false" flipV="false">
            <a:off x="1016000" y="4826000"/>
            <a:ext cx="1016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下一页这张图，就是它从建项目到把工作交出去的完整流程——我们按图走。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1016000" y="762000"/>
            <a:ext cx="508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04 · 一个开源项目的观察 · 总览</a:t>
            </a:r>
            <a:endParaRPr lang="en-US" sz="1100"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1143000"/>
            <a:ext cx="1016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一张图看完：工作怎么被接住，又怎么传下去</a:t>
            </a:r>
            <a:endParaRPr lang="en-US" sz="1100"/>
          </a:p>
        </p:txBody>
      </p:sp>
      <p:cxnSp>
        <p:nvCxnSpPr>
          <p:cNvPr name="Connector 4" id="4"/>
          <p:cNvCxnSpPr/>
          <p:nvPr/>
        </p:nvCxnSpPr>
        <p:spPr>
          <a:xfrm rot="-4297" flipH="false" flipV="false">
            <a:off x="1016004" y="19621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5" id="5"/>
          <p:cNvSpPr/>
          <p:nvPr/>
        </p:nvSpPr>
        <p:spPr>
          <a:xfrm rot="0" flipH="false" flipV="false">
            <a:off x="1016000" y="2413000"/>
            <a:ext cx="2286000" cy="914400"/>
          </a:xfrm>
          <a:prstGeom prst="roundRect">
            <a:avLst>
              <a:gd name="adj" fmla="val 11111"/>
            </a:avLst>
          </a:prstGeom>
          <a:solidFill>
            <a:srgbClr val="F8FAFC">
              <a:alpha val="100000"/>
            </a:srgbClr>
          </a:solidFill>
          <a:ln w="12700" cmpd="sng" cap="flat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6" id="6"/>
          <p:cNvSpPr/>
          <p:nvPr/>
        </p:nvSpPr>
        <p:spPr>
          <a:xfrm rot="0" flipH="false" flipV="false">
            <a:off x="1143000" y="2413000"/>
            <a:ext cx="2032000" cy="914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2500"/>
              </a:lnSpc>
              <a:defRPr/>
            </a:pPr>
            <a:r>
              <a:rPr lang="en-US" b="true" i="false" strike="noStrike" u="none" sz="13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① 建项目</a:t>
            </a: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12500"/>
              </a:lnSpc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拉成员，各用各的现场</a:t>
            </a:r>
          </a:p>
        </p:txBody>
      </p:sp>
      <p:cxnSp>
        <p:nvCxnSpPr>
          <p:cNvPr name="Connector 7" id="7"/>
          <p:cNvCxnSpPr/>
          <p:nvPr/>
        </p:nvCxnSpPr>
        <p:spPr>
          <a:xfrm rot="-163578" flipH="false" flipV="false">
            <a:off x="3340251" y="2863850"/>
            <a:ext cx="2667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94A3B8">
                <a:alpha val="100000"/>
              </a:srgbClr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name="AutoShape 8" id="8"/>
          <p:cNvSpPr/>
          <p:nvPr/>
        </p:nvSpPr>
        <p:spPr>
          <a:xfrm rot="0" flipH="false" flipV="false">
            <a:off x="3644900" y="2413000"/>
            <a:ext cx="2286000" cy="914400"/>
          </a:xfrm>
          <a:prstGeom prst="roundRect">
            <a:avLst>
              <a:gd name="adj" fmla="val 11111"/>
            </a:avLst>
          </a:prstGeom>
          <a:solidFill>
            <a:srgbClr val="F8FAFC">
              <a:alpha val="100000"/>
            </a:srgbClr>
          </a:solidFill>
          <a:ln w="12700" cmpd="sng" cap="flat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3771900" y="2413000"/>
            <a:ext cx="2032000" cy="914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2500"/>
              </a:lnSpc>
              <a:defRPr/>
            </a:pPr>
            <a:r>
              <a:rPr lang="en-US" b="true" i="false" strike="noStrike" u="none" sz="13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② 派任务</a:t>
            </a: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12500"/>
              </a:lnSpc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指定责任人</a:t>
            </a:r>
          </a:p>
        </p:txBody>
      </p:sp>
      <p:cxnSp>
        <p:nvCxnSpPr>
          <p:cNvPr name="Connector 10" id="10"/>
          <p:cNvCxnSpPr/>
          <p:nvPr/>
        </p:nvCxnSpPr>
        <p:spPr>
          <a:xfrm rot="-163578" flipH="false" flipV="false">
            <a:off x="5969151" y="2863850"/>
            <a:ext cx="2667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94A3B8">
                <a:alpha val="100000"/>
              </a:srgbClr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name="AutoShape 11" id="11"/>
          <p:cNvSpPr/>
          <p:nvPr/>
        </p:nvSpPr>
        <p:spPr>
          <a:xfrm rot="0" flipH="false" flipV="false">
            <a:off x="6273800" y="2413000"/>
            <a:ext cx="2286000" cy="914400"/>
          </a:xfrm>
          <a:prstGeom prst="roundRect">
            <a:avLst>
              <a:gd name="adj" fmla="val 11111"/>
            </a:avLst>
          </a:prstGeom>
          <a:solidFill>
            <a:srgbClr val="F8FAFC">
              <a:alpha val="100000"/>
            </a:srgbClr>
          </a:solidFill>
          <a:ln w="12700" cmpd="sng" cap="flat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6400800" y="2413000"/>
            <a:ext cx="2032000" cy="914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2500"/>
              </a:lnSpc>
              <a:defRPr/>
            </a:pPr>
            <a:r>
              <a:rPr lang="en-US" b="true" i="false" strike="noStrike" u="none" sz="13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③ 接任务</a:t>
            </a: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12500"/>
              </a:lnSpc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本人选 Agent 和现场</a:t>
            </a:r>
          </a:p>
        </p:txBody>
      </p:sp>
      <p:cxnSp>
        <p:nvCxnSpPr>
          <p:cNvPr name="Connector 13" id="13"/>
          <p:cNvCxnSpPr/>
          <p:nvPr/>
        </p:nvCxnSpPr>
        <p:spPr>
          <a:xfrm rot="-163578" flipH="false" flipV="false">
            <a:off x="8598051" y="2863850"/>
            <a:ext cx="2667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94A3B8">
                <a:alpha val="100000"/>
              </a:srgbClr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name="AutoShape 14" id="14"/>
          <p:cNvSpPr/>
          <p:nvPr/>
        </p:nvSpPr>
        <p:spPr>
          <a:xfrm rot="0" flipH="false" flipV="false">
            <a:off x="8902700" y="2413000"/>
            <a:ext cx="2286000" cy="914400"/>
          </a:xfrm>
          <a:prstGeom prst="roundRect">
            <a:avLst>
              <a:gd name="adj" fmla="val 11111"/>
            </a:avLst>
          </a:prstGeom>
          <a:solidFill>
            <a:srgbClr val="F8FAFC">
              <a:alpha val="100000"/>
            </a:srgbClr>
          </a:solidFill>
          <a:ln w="12700" cmpd="sng" cap="flat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9029700" y="2413000"/>
            <a:ext cx="2032000" cy="914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2500"/>
              </a:lnSpc>
              <a:defRPr/>
            </a:pPr>
            <a:r>
              <a:rPr lang="en-US" b="true" i="false" strike="noStrike" u="none" sz="13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④ 跑任务</a:t>
            </a: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12500"/>
              </a:lnSpc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快照 + 时间线留痕</a:t>
            </a:r>
          </a:p>
        </p:txBody>
      </p:sp>
      <p:cxnSp>
        <p:nvCxnSpPr>
          <p:cNvPr name="Connector 16" id="16"/>
          <p:cNvCxnSpPr/>
          <p:nvPr/>
        </p:nvCxnSpPr>
        <p:spPr>
          <a:xfrm rot="5328390" flipH="false" flipV="false">
            <a:off x="5791200" y="3727516"/>
            <a:ext cx="609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mpd="sng" cap="flat">
            <a:solidFill>
              <a:srgbClr val="C9302C">
                <a:alpha val="10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  <p:sp>
        <p:nvSpPr>
          <p:cNvPr name="AutoShape 17" id="17"/>
          <p:cNvSpPr/>
          <p:nvPr/>
        </p:nvSpPr>
        <p:spPr>
          <a:xfrm rot="0" flipH="false" flipV="false">
            <a:off x="3619500" y="3606800"/>
            <a:ext cx="2286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跑完 → 验收沉淀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1016000" y="4127500"/>
            <a:ext cx="2286000" cy="914400"/>
          </a:xfrm>
          <a:prstGeom prst="roundRect">
            <a:avLst>
              <a:gd name="adj" fmla="val 11111"/>
            </a:avLst>
          </a:prstGeom>
          <a:solidFill>
            <a:srgbClr val="FEF2F2">
              <a:alpha val="100000"/>
            </a:srgbClr>
          </a:solidFill>
          <a:ln w="12700" cmpd="sng" cap="flat">
            <a:solidFill>
              <a:srgbClr val="C9302C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1143000" y="4127500"/>
            <a:ext cx="2032000" cy="914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2500"/>
              </a:lnSpc>
              <a:defRPr/>
            </a:pPr>
            <a:r>
              <a:rPr lang="en-US" b="true" i="false" strike="noStrike" u="none" sz="13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⑤ 验收发布</a:t>
            </a: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12500"/>
              </a:lnSpc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责任人挑哪些算交付物</a:t>
            </a:r>
          </a:p>
        </p:txBody>
      </p:sp>
      <p:cxnSp>
        <p:nvCxnSpPr>
          <p:cNvPr name="Connector 20" id="20"/>
          <p:cNvCxnSpPr/>
          <p:nvPr/>
        </p:nvCxnSpPr>
        <p:spPr>
          <a:xfrm rot="-163578" flipH="false" flipV="false">
            <a:off x="3340251" y="4578350"/>
            <a:ext cx="2667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94A3B8">
                <a:alpha val="100000"/>
              </a:srgbClr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name="AutoShape 21" id="21"/>
          <p:cNvSpPr/>
          <p:nvPr/>
        </p:nvSpPr>
        <p:spPr>
          <a:xfrm rot="0" flipH="false" flipV="false">
            <a:off x="3644900" y="4127500"/>
            <a:ext cx="2286000" cy="914400"/>
          </a:xfrm>
          <a:prstGeom prst="roundRect">
            <a:avLst>
              <a:gd name="adj" fmla="val 11111"/>
            </a:avLst>
          </a:prstGeom>
          <a:solidFill>
            <a:srgbClr val="FEF2F2">
              <a:alpha val="100000"/>
            </a:srgbClr>
          </a:solidFill>
          <a:ln w="12700" cmpd="sng" cap="flat">
            <a:solidFill>
              <a:srgbClr val="C9302C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3771900" y="4127500"/>
            <a:ext cx="2032000" cy="914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2500"/>
              </a:lnSpc>
              <a:defRPr/>
            </a:pPr>
            <a:r>
              <a:rPr lang="en-US" b="true" i="false" strike="noStrike" u="none" sz="13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⑥ 进资产区</a:t>
            </a: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12500"/>
              </a:lnSpc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团队可检索、可复用</a:t>
            </a:r>
          </a:p>
        </p:txBody>
      </p:sp>
      <p:cxnSp>
        <p:nvCxnSpPr>
          <p:cNvPr name="Connector 23" id="23"/>
          <p:cNvCxnSpPr/>
          <p:nvPr/>
        </p:nvCxnSpPr>
        <p:spPr>
          <a:xfrm rot="-163578" flipH="false" flipV="false">
            <a:off x="5969151" y="4578350"/>
            <a:ext cx="2667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94A3B8">
                <a:alpha val="100000"/>
              </a:srgbClr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name="AutoShape 24" id="24"/>
          <p:cNvSpPr/>
          <p:nvPr/>
        </p:nvSpPr>
        <p:spPr>
          <a:xfrm rot="0" flipH="false" flipV="false">
            <a:off x="6273800" y="4127500"/>
            <a:ext cx="2286000" cy="914400"/>
          </a:xfrm>
          <a:prstGeom prst="roundRect">
            <a:avLst>
              <a:gd name="adj" fmla="val 11111"/>
            </a:avLst>
          </a:prstGeom>
          <a:solidFill>
            <a:srgbClr val="FEF2F2">
              <a:alpha val="100000"/>
            </a:srgbClr>
          </a:solidFill>
          <a:ln w="12700" cmpd="sng" cap="flat">
            <a:solidFill>
              <a:srgbClr val="C9302C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6400800" y="4127500"/>
            <a:ext cx="2032000" cy="914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2500"/>
              </a:lnSpc>
              <a:defRPr/>
            </a:pPr>
            <a:r>
              <a:rPr lang="en-US" b="true" i="false" strike="noStrike" u="none" sz="13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⑦ 交接包</a:t>
            </a: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12500"/>
              </a:lnSpc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目标+进展+材料</a:t>
            </a:r>
          </a:p>
        </p:txBody>
      </p:sp>
      <p:cxnSp>
        <p:nvCxnSpPr>
          <p:cNvPr name="Connector 26" id="26"/>
          <p:cNvCxnSpPr/>
          <p:nvPr/>
        </p:nvCxnSpPr>
        <p:spPr>
          <a:xfrm rot="-163578" flipH="false" flipV="false">
            <a:off x="8598051" y="4578350"/>
            <a:ext cx="2667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94A3B8">
                <a:alpha val="100000"/>
              </a:srgbClr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name="AutoShape 27" id="27"/>
          <p:cNvSpPr/>
          <p:nvPr/>
        </p:nvSpPr>
        <p:spPr>
          <a:xfrm rot="0" flipH="false" flipV="false">
            <a:off x="8902700" y="4127500"/>
            <a:ext cx="2286000" cy="914400"/>
          </a:xfrm>
          <a:prstGeom prst="roundRect">
            <a:avLst>
              <a:gd name="adj" fmla="val 11111"/>
            </a:avLst>
          </a:prstGeom>
          <a:solidFill>
            <a:srgbClr val="FEF2F2">
              <a:alpha val="100000"/>
            </a:srgbClr>
          </a:solidFill>
          <a:ln w="12700" cmpd="sng" cap="flat">
            <a:solidFill>
              <a:srgbClr val="C9302C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9029700" y="4127500"/>
            <a:ext cx="2032000" cy="914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2500"/>
              </a:lnSpc>
              <a:defRPr/>
            </a:pPr>
            <a:r>
              <a:rPr lang="en-US" b="true" i="false" strike="noStrike" u="none" sz="13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⑧ 接手继续</a:t>
            </a: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12500"/>
              </a:lnSpc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他人用自己的 Agent 接着干</a:t>
            </a:r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1016000" y="5651500"/>
            <a:ext cx="1016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贯穿全程的一条线：Agent 回答"谁在干"，Workspace 回答"在哪台机哪个目录干"——两者运行时才拼起来。</a:t>
            </a:r>
            <a:endParaRPr lang="en-US" sz="1100"/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1016000" y="762000"/>
            <a:ext cx="508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04 · 一个开源项目的观察 · 总纲第 0 格</a:t>
            </a:r>
            <a:endParaRPr lang="en-US" sz="1100"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1143000"/>
            <a:ext cx="1016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地基：Agent 是"谁"，Workspace 是"哪"</a:t>
            </a:r>
            <a:endParaRPr lang="en-US" sz="1100"/>
          </a:p>
        </p:txBody>
      </p:sp>
      <p:cxnSp>
        <p:nvCxnSpPr>
          <p:cNvPr name="Connector 4" id="4"/>
          <p:cNvCxnSpPr/>
          <p:nvPr/>
        </p:nvCxnSpPr>
        <p:spPr>
          <a:xfrm rot="-4297" flipH="false" flipV="false">
            <a:off x="1016004" y="2025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5" id="5"/>
          <p:cNvSpPr/>
          <p:nvPr/>
        </p:nvSpPr>
        <p:spPr>
          <a:xfrm rot="0" flipH="false" flipV="false">
            <a:off x="1016000" y="2476500"/>
            <a:ext cx="4445000" cy="2667000"/>
          </a:xfrm>
          <a:prstGeom prst="roundRect">
            <a:avLst>
              <a:gd name="adj" fmla="val 3809"/>
            </a:avLst>
          </a:prstGeom>
          <a:solidFill>
            <a:srgbClr val="F8FAFC">
              <a:alpha val="100000"/>
            </a:srgbClr>
          </a:solidFill>
          <a:ln w="12700" cmpd="sng" cap="flat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6" id="6"/>
          <p:cNvSpPr/>
          <p:nvPr/>
        </p:nvSpPr>
        <p:spPr>
          <a:xfrm rot="0" flipH="false" flipV="false">
            <a:off x="1270000" y="2476500"/>
            <a:ext cx="3937000" cy="2667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true" i="false" strike="noStrike" u="none" sz="16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Agent · 纯身份</a:t>
            </a: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名字、目标、custom_rules、偏好模型</a:t>
            </a:r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——它只回答"谁在参与"</a:t>
            </a:r>
          </a:p>
          <a:p>
            <a:pPr algn="l" marL="0" indent="0">
              <a:lnSpc>
                <a:spcPct val="133333"/>
              </a:lnSpc>
            </a:pPr>
            <a:r>
              <a:rPr lang="en-US" b="true" i="false" strike="noStrike" u="none" sz="14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不含设备，不含目录</a:t>
            </a:r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5715000" y="3429000"/>
            <a:ext cx="762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36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×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6731000" y="2476500"/>
            <a:ext cx="4445000" cy="2667000"/>
          </a:xfrm>
          <a:prstGeom prst="roundRect">
            <a:avLst>
              <a:gd name="adj" fmla="val 3809"/>
            </a:avLst>
          </a:prstGeom>
          <a:solidFill>
            <a:srgbClr val="F8FAFC">
              <a:alpha val="100000"/>
            </a:srgbClr>
          </a:solidFill>
          <a:ln w="12700" cmpd="sng" cap="flat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6985000" y="2476500"/>
            <a:ext cx="3937000" cy="2667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true" i="false" strike="noStrike" u="none" sz="16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Workspace · 执行现场</a:t>
            </a: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某台 Device + 某个工作目录</a:t>
            </a:r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带信任状态、审批三档、每次 run 的预算上限</a:t>
            </a:r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——它只回答"在哪干"</a:t>
            </a:r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016000" y="5588000"/>
            <a:ext cx="1016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会话 = 谁 × 在哪，</a:t>
            </a:r>
            <a:r>
              <a:rPr lang="en-US" b="true" i="false" strike="noStrike" u="none" sz="14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运行时才拼起来</a:t>
            </a: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：同一个 Agent 可在不同电脑跑，同个目录也能挂不同 Agent。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1016000" y="762000"/>
            <a:ext cx="508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04 · 一个开源项目的观察 · 总纲第 1 格</a:t>
            </a:r>
            <a:endParaRPr lang="en-US" sz="1100"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1143000"/>
            <a:ext cx="1016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建项目：把人拉进来，但不塞进同一个文件夹</a:t>
            </a:r>
            <a:endParaRPr lang="en-US" sz="1100"/>
          </a:p>
        </p:txBody>
      </p:sp>
      <p:cxnSp>
        <p:nvCxnSpPr>
          <p:cNvPr name="Connector 4" id="4"/>
          <p:cNvCxnSpPr/>
          <p:nvPr/>
        </p:nvCxnSpPr>
        <p:spPr>
          <a:xfrm rot="-4297" flipH="false" flipV="false">
            <a:off x="1016004" y="2025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5" id="5"/>
          <p:cNvSpPr/>
          <p:nvPr/>
        </p:nvSpPr>
        <p:spPr>
          <a:xfrm rot="0" flipH="false" flipV="false">
            <a:off x="1016000" y="2349500"/>
            <a:ext cx="10160000" cy="889000"/>
          </a:xfrm>
          <a:prstGeom prst="roundRect">
            <a:avLst>
              <a:gd name="adj" fmla="val 11428"/>
            </a:avLst>
          </a:prstGeom>
          <a:solidFill>
            <a:srgbClr val="F8FAFC">
              <a:alpha val="100000"/>
            </a:srgbClr>
          </a:solidFill>
          <a:ln w="12700" cmpd="sng" cap="flat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6" id="6"/>
          <p:cNvSpPr/>
          <p:nvPr/>
        </p:nvSpPr>
        <p:spPr>
          <a:xfrm rot="0" flipH="false" flipV="false">
            <a:off x="1270000" y="2349500"/>
            <a:ext cx="9652000" cy="889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true" i="false" strike="noStrike" u="none" sz="14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① 建 Project</a:t>
            </a: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　一个团队协作房间，状态 进行中 / 暂停 / 已完成 / 可归档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16000" y="3429000"/>
            <a:ext cx="10160000" cy="889000"/>
          </a:xfrm>
          <a:prstGeom prst="roundRect">
            <a:avLst>
              <a:gd name="adj" fmla="val 11428"/>
            </a:avLst>
          </a:prstGeom>
          <a:solidFill>
            <a:srgbClr val="F8FAFC">
              <a:alpha val="100000"/>
            </a:srgbClr>
          </a:solidFill>
          <a:ln w="12700" cmpd="sng" cap="flat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270000" y="3429000"/>
            <a:ext cx="9652000" cy="889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true" i="false" strike="noStrike" u="none" sz="14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② 拉成员</a:t>
            </a: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　邀请发出后，对方自己决定接受（pending → active）；角色 owner / admin / editor / viewer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016000" y="4508500"/>
            <a:ext cx="10160000" cy="889000"/>
          </a:xfrm>
          <a:prstGeom prst="roundRect">
            <a:avLst>
              <a:gd name="adj" fmla="val 11428"/>
            </a:avLst>
          </a:prstGeom>
          <a:solidFill>
            <a:srgbClr val="F8FAFC">
              <a:alpha val="100000"/>
            </a:srgbClr>
          </a:solidFill>
          <a:ln w="12700" cmpd="sng" cap="flat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270000" y="4508500"/>
            <a:ext cx="9652000" cy="889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true" i="false" strike="noStrike" u="none" sz="14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③ 各绑各的现场</a:t>
            </a: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　每个成员在这个项目里关联</a:t>
            </a:r>
            <a:r>
              <a:rPr lang="en-US" b="tru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自己那份私有 Workspace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1016000" y="5715000"/>
            <a:ext cx="1016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关键：Project 不是共享文件夹——团队靠"任务 + 资产区"协作，不靠把所有人塞进同一个目录。</a:t>
            </a:r>
            <a:endParaRPr lang="en-US" sz="1100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1016000" y="762000"/>
            <a:ext cx="508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04 · 一个开源项目的观察 · 总纲第 2 格</a:t>
            </a:r>
            <a:endParaRPr lang="en-US" sz="1100"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1143000"/>
            <a:ext cx="1016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派活与接活：先定接不接，再定怎么干</a:t>
            </a:r>
            <a:endParaRPr lang="en-US" sz="1100"/>
          </a:p>
        </p:txBody>
      </p:sp>
      <p:cxnSp>
        <p:nvCxnSpPr>
          <p:cNvPr name="Connector 4" id="4"/>
          <p:cNvCxnSpPr/>
          <p:nvPr/>
        </p:nvCxnSpPr>
        <p:spPr>
          <a:xfrm rot="-4297" flipH="false" flipV="false">
            <a:off x="1016004" y="2025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5" id="5"/>
          <p:cNvSpPr/>
          <p:nvPr/>
        </p:nvSpPr>
        <p:spPr>
          <a:xfrm rot="0" flipH="false" flipV="false">
            <a:off x="1016000" y="2349500"/>
            <a:ext cx="635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第一套 · 接不接（责任人本人决定）</a:t>
            </a:r>
            <a:endParaRPr lang="en-US" sz="1100"/>
          </a:p>
        </p:txBody>
      </p:sp>
      <p:sp>
        <p:nvSpPr>
          <p:cNvPr name="AutoShape 6" id="6"/>
          <p:cNvSpPr/>
          <p:nvPr/>
        </p:nvSpPr>
        <p:spPr>
          <a:xfrm rot="0" flipH="false" flipV="false">
            <a:off x="1016000" y="2692400"/>
            <a:ext cx="2286000" cy="584200"/>
          </a:xfrm>
          <a:prstGeom prst="roundRect">
            <a:avLst>
              <a:gd name="adj" fmla="val 17391"/>
            </a:avLst>
          </a:prstGeom>
          <a:solidFill>
            <a:srgbClr val="F8FAFC">
              <a:alpha val="100000"/>
            </a:srgbClr>
          </a:solidFill>
          <a:ln w="12700" cmpd="sng" cap="flat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16000" y="2692400"/>
            <a:ext cx="2286000" cy="584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待确认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3492500" y="2692400"/>
            <a:ext cx="2286000" cy="584200"/>
          </a:xfrm>
          <a:prstGeom prst="roundRect">
            <a:avLst>
              <a:gd name="adj" fmla="val 17391"/>
            </a:avLst>
          </a:prstGeom>
          <a:solidFill>
            <a:srgbClr val="F8FAFC">
              <a:alpha val="100000"/>
            </a:srgbClr>
          </a:solidFill>
          <a:ln w="12700" cmpd="sng" cap="flat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3492500" y="2692400"/>
            <a:ext cx="2286000" cy="584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已接受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5969000" y="2692400"/>
            <a:ext cx="2286000" cy="584200"/>
          </a:xfrm>
          <a:prstGeom prst="roundRect">
            <a:avLst>
              <a:gd name="adj" fmla="val 17391"/>
            </a:avLst>
          </a:prstGeom>
          <a:solidFill>
            <a:srgbClr val="F8FAFC">
              <a:alpha val="100000"/>
            </a:srgbClr>
          </a:solidFill>
          <a:ln w="12700" cmpd="sng" cap="flat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5969000" y="2692400"/>
            <a:ext cx="2286000" cy="584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已拒绝</a:t>
            </a:r>
            <a:endParaRPr lang="en-US" sz="1100"/>
          </a:p>
        </p:txBody>
      </p:sp>
      <p:cxnSp>
        <p:nvCxnSpPr>
          <p:cNvPr name="Connector 12" id="12"/>
          <p:cNvCxnSpPr/>
          <p:nvPr/>
        </p:nvCxnSpPr>
        <p:spPr>
          <a:xfrm rot="-311665" flipH="false" flipV="false">
            <a:off x="3327688" y="2978150"/>
            <a:ext cx="1397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94A3B8">
                <a:alpha val="100000"/>
              </a:srgbClr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name="AutoShape 13" id="13"/>
          <p:cNvSpPr/>
          <p:nvPr/>
        </p:nvSpPr>
        <p:spPr>
          <a:xfrm rot="0" flipH="false" flipV="false">
            <a:off x="1016000" y="3581400"/>
            <a:ext cx="10160000" cy="558800"/>
          </a:xfrm>
          <a:prstGeom prst="roundRect">
            <a:avLst>
              <a:gd name="adj" fmla="val 18181"/>
            </a:avLst>
          </a:prstGeom>
          <a:solidFill>
            <a:srgbClr val="FEF2F2">
              <a:alpha val="100000"/>
            </a:srgbClr>
          </a:solidFill>
          <a:ln w="12700" cmpd="sng" cap="flat">
            <a:solidFill>
              <a:srgbClr val="C9302C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1270000" y="3581400"/>
            <a:ext cx="9652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接活这一刻，才当场选：用哪个 Agent、在哪份现场跑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1016000" y="4445000"/>
            <a:ext cx="635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第二套 · 干到哪（状态推进）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1016000" y="4787900"/>
            <a:ext cx="2222500" cy="584200"/>
          </a:xfrm>
          <a:prstGeom prst="roundRect">
            <a:avLst>
              <a:gd name="adj" fmla="val 17391"/>
            </a:avLst>
          </a:prstGeom>
          <a:solidFill>
            <a:srgbClr val="F8FAFC">
              <a:alpha val="100000"/>
            </a:srgbClr>
          </a:solidFill>
          <a:ln w="12700" cmpd="sng" cap="flat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1016000" y="4787900"/>
            <a:ext cx="2222500" cy="584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待执行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3492500" y="4787900"/>
            <a:ext cx="2222500" cy="584200"/>
          </a:xfrm>
          <a:prstGeom prst="roundRect">
            <a:avLst>
              <a:gd name="adj" fmla="val 17391"/>
            </a:avLst>
          </a:prstGeom>
          <a:solidFill>
            <a:srgbClr val="F8FAFC">
              <a:alpha val="100000"/>
            </a:srgbClr>
          </a:solidFill>
          <a:ln w="12700" cmpd="sng" cap="flat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3492500" y="4787900"/>
            <a:ext cx="2222500" cy="584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执行中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5969000" y="4787900"/>
            <a:ext cx="2222500" cy="584200"/>
          </a:xfrm>
          <a:prstGeom prst="roundRect">
            <a:avLst>
              <a:gd name="adj" fmla="val 17391"/>
            </a:avLst>
          </a:prstGeom>
          <a:solidFill>
            <a:srgbClr val="F8FAFC">
              <a:alpha val="100000"/>
            </a:srgbClr>
          </a:solidFill>
          <a:ln w="12700" cmpd="sng" cap="flat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5969000" y="4787900"/>
            <a:ext cx="2222500" cy="584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待验收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8445500" y="4787900"/>
            <a:ext cx="2222500" cy="584200"/>
          </a:xfrm>
          <a:prstGeom prst="roundRect">
            <a:avLst>
              <a:gd name="adj" fmla="val 17391"/>
            </a:avLst>
          </a:prstGeom>
          <a:solidFill>
            <a:srgbClr val="FEF2F2">
              <a:alpha val="100000"/>
            </a:srgbClr>
          </a:solidFill>
          <a:ln w="12700" cmpd="sng" cap="flat">
            <a:solidFill>
              <a:srgbClr val="C9302C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8445500" y="4787900"/>
            <a:ext cx="2222500" cy="584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已完成</a:t>
            </a:r>
            <a:endParaRPr lang="en-US" sz="1100"/>
          </a:p>
        </p:txBody>
      </p:sp>
      <p:cxnSp>
        <p:nvCxnSpPr>
          <p:cNvPr name="Connector 24" id="24"/>
          <p:cNvCxnSpPr/>
          <p:nvPr/>
        </p:nvCxnSpPr>
        <p:spPr>
          <a:xfrm rot="-245137" flipH="false" flipV="false">
            <a:off x="3276826" y="5073650"/>
            <a:ext cx="177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94A3B8">
                <a:alpha val="100000"/>
              </a:srgbClr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name="Connector 25" id="25"/>
          <p:cNvCxnSpPr/>
          <p:nvPr/>
        </p:nvCxnSpPr>
        <p:spPr>
          <a:xfrm rot="-245137" flipH="false" flipV="false">
            <a:off x="5753326" y="5073650"/>
            <a:ext cx="177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94A3B8">
                <a:alpha val="100000"/>
              </a:srgbClr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name="Connector 26" id="26"/>
          <p:cNvCxnSpPr/>
          <p:nvPr/>
        </p:nvCxnSpPr>
        <p:spPr>
          <a:xfrm rot="-245137" flipH="false" flipV="false">
            <a:off x="8229826" y="5073650"/>
            <a:ext cx="177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94A3B8">
                <a:alpha val="100000"/>
              </a:srgbClr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name="AutoShape 27" id="27"/>
          <p:cNvSpPr/>
          <p:nvPr/>
        </p:nvSpPr>
        <p:spPr>
          <a:xfrm rot="0" flipH="false" flipV="false">
            <a:off x="1016000" y="5715000"/>
            <a:ext cx="1016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另：受阻 blocked、已取消 cancelled；派活的人只说"这件事你负责"，怎么干由接的人定。</a:t>
            </a:r>
            <a:endParaRPr lang="en-US" sz="1100"/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1016000" y="762000"/>
            <a:ext cx="508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04 · 一个开源项目的观察 · 总纲第 3 格</a:t>
            </a:r>
            <a:endParaRPr lang="en-US" sz="1100"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1143000"/>
            <a:ext cx="1016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跑任务：一启动就钉死，每一步都留痕</a:t>
            </a:r>
            <a:endParaRPr lang="en-US" sz="1100"/>
          </a:p>
        </p:txBody>
      </p:sp>
      <p:cxnSp>
        <p:nvCxnSpPr>
          <p:cNvPr name="Connector 4" id="4"/>
          <p:cNvCxnSpPr/>
          <p:nvPr/>
        </p:nvCxnSpPr>
        <p:spPr>
          <a:xfrm rot="-4297" flipH="false" flipV="false">
            <a:off x="1016004" y="2025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5" id="5"/>
          <p:cNvSpPr/>
          <p:nvPr/>
        </p:nvSpPr>
        <p:spPr>
          <a:xfrm rot="0" flipH="false" flipV="false">
            <a:off x="1016000" y="2413000"/>
            <a:ext cx="4826000" cy="2667000"/>
          </a:xfrm>
          <a:prstGeom prst="roundRect">
            <a:avLst>
              <a:gd name="adj" fmla="val 3809"/>
            </a:avLst>
          </a:prstGeom>
          <a:solidFill>
            <a:srgbClr val="F8FAFC">
              <a:alpha val="100000"/>
            </a:srgbClr>
          </a:solidFill>
          <a:ln w="12700" cmpd="sng" cap="flat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6" id="6"/>
          <p:cNvSpPr/>
          <p:nvPr/>
        </p:nvSpPr>
        <p:spPr>
          <a:xfrm rot="0" flipH="false" flipV="false">
            <a:off x="1270000" y="2413000"/>
            <a:ext cx="4318000" cy="2667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true" i="false" strike="noStrike" u="none" sz="16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一次 Run = 一次执行</a:t>
            </a: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创建即快照：责任人 / Agent / 现场 / 设备 / 会话，</a:t>
            </a:r>
            <a:r>
              <a:rPr lang="en-US" b="true" i="false" strike="noStrike" u="none" sz="14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之后不可改</a:t>
            </a: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同一任务同时</a:t>
            </a:r>
            <a:r>
              <a:rPr lang="en-US" b="true" i="false" strike="noStrike" u="none" sz="14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只能有一个在跑</a:t>
            </a: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（数据库约束兜底）</a:t>
            </a:r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6350000" y="2413000"/>
            <a:ext cx="4826000" cy="2667000"/>
          </a:xfrm>
          <a:prstGeom prst="roundRect">
            <a:avLst>
              <a:gd name="adj" fmla="val 3809"/>
            </a:avLst>
          </a:prstGeom>
          <a:solidFill>
            <a:srgbClr val="F8FAFC">
              <a:alpha val="100000"/>
            </a:srgbClr>
          </a:solidFill>
          <a:ln w="12700" cmpd="sng" cap="flat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6604000" y="2413000"/>
            <a:ext cx="4318000" cy="2667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true" i="false" strike="noStrike" u="none" sz="16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过程 = 不可变时间线</a:t>
            </a: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每一步写一条事件：谁、何时、做了什么</a:t>
            </a:r>
          </a:p>
          <a:p>
            <a:pPr algn="l" marL="0" indent="0">
              <a:lnSpc>
                <a:spcPct val="133333"/>
              </a:lnSpc>
            </a:pPr>
            <a:r>
              <a:rPr lang="en-US" b="true" i="false" strike="noStrike" u="none" sz="14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只追加，不修改</a:t>
            </a: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，事后能完整还原</a:t>
            </a:r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016000" y="5461000"/>
            <a:ext cx="10160000" cy="558800"/>
          </a:xfrm>
          <a:prstGeom prst="roundRect">
            <a:avLst>
              <a:gd name="adj" fmla="val 18181"/>
            </a:avLst>
          </a:prstGeom>
          <a:solidFill>
            <a:srgbClr val="FEF2F2">
              <a:alpha val="100000"/>
            </a:srgbClr>
          </a:solidFill>
          <a:ln w="12700" cmpd="sng" cap="flat">
            <a:solidFill>
              <a:srgbClr val="C9302C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270000" y="5461000"/>
            <a:ext cx="9652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Agent 跑出来的候选产物，验收之前只有责任人自己看得见。</a:t>
            </a:r>
            <a:endParaRPr lang="en-US" sz="1100"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1016000" y="762000"/>
            <a:ext cx="508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04 · 一个开源项目的观察 · 总纲第 4 格</a:t>
            </a:r>
            <a:endParaRPr lang="en-US" sz="1100"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1143000"/>
            <a:ext cx="1016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验收才沉淀：不是自动进团队，是责任人点头</a:t>
            </a:r>
            <a:endParaRPr lang="en-US" sz="1100"/>
          </a:p>
        </p:txBody>
      </p:sp>
      <p:cxnSp>
        <p:nvCxnSpPr>
          <p:cNvPr name="Connector 4" id="4"/>
          <p:cNvCxnSpPr/>
          <p:nvPr/>
        </p:nvCxnSpPr>
        <p:spPr>
          <a:xfrm rot="-4297" flipH="false" flipV="false">
            <a:off x="1016004" y="2025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5" id="5"/>
          <p:cNvSpPr/>
          <p:nvPr/>
        </p:nvSpPr>
        <p:spPr>
          <a:xfrm rot="0" flipH="false" flipV="false">
            <a:off x="1016000" y="2540000"/>
            <a:ext cx="3048000" cy="1651000"/>
          </a:xfrm>
          <a:prstGeom prst="roundRect">
            <a:avLst>
              <a:gd name="adj" fmla="val 6153"/>
            </a:avLst>
          </a:prstGeom>
          <a:solidFill>
            <a:srgbClr val="F8FAFC">
              <a:alpha val="100000"/>
            </a:srgbClr>
          </a:solidFill>
          <a:ln w="12700" cmpd="sng" cap="flat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6" id="6"/>
          <p:cNvSpPr/>
          <p:nvPr/>
        </p:nvSpPr>
        <p:spPr>
          <a:xfrm rot="0" flipH="false" flipV="false">
            <a:off x="1206500" y="2540000"/>
            <a:ext cx="2667000" cy="165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候选人产物</a:t>
            </a: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25000"/>
              </a:lnSpc>
            </a:pP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验收前，仅责任人可见</a:t>
            </a:r>
          </a:p>
        </p:txBody>
      </p:sp>
      <p:cxnSp>
        <p:nvCxnSpPr>
          <p:cNvPr name="Connector 7" id="7"/>
          <p:cNvCxnSpPr/>
          <p:nvPr/>
        </p:nvCxnSpPr>
        <p:spPr>
          <a:xfrm rot="-114549" flipH="false" flipV="false">
            <a:off x="4127606" y="3359150"/>
            <a:ext cx="38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94A3B8">
                <a:alpha val="100000"/>
              </a:srgbClr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name="AutoShape 8" id="8"/>
          <p:cNvSpPr/>
          <p:nvPr/>
        </p:nvSpPr>
        <p:spPr>
          <a:xfrm rot="0" flipH="false" flipV="false">
            <a:off x="4572000" y="2540000"/>
            <a:ext cx="3048000" cy="1651000"/>
          </a:xfrm>
          <a:prstGeom prst="roundRect">
            <a:avLst>
              <a:gd name="adj" fmla="val 6153"/>
            </a:avLst>
          </a:prstGeom>
          <a:solidFill>
            <a:srgbClr val="F8FAFC">
              <a:alpha val="100000"/>
            </a:srgbClr>
          </a:solidFill>
          <a:ln w="12700" cmpd="sng" cap="flat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4762500" y="2540000"/>
            <a:ext cx="2667000" cy="165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责任人验收</a:t>
            </a: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25000"/>
              </a:lnSpc>
            </a:pP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挑哪些算交付物，写验收结论</a:t>
            </a:r>
          </a:p>
        </p:txBody>
      </p:sp>
      <p:cxnSp>
        <p:nvCxnSpPr>
          <p:cNvPr name="Connector 10" id="10"/>
          <p:cNvCxnSpPr/>
          <p:nvPr/>
        </p:nvCxnSpPr>
        <p:spPr>
          <a:xfrm rot="-114549" flipH="false" flipV="false">
            <a:off x="7683606" y="3359150"/>
            <a:ext cx="38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94A3B8">
                <a:alpha val="100000"/>
              </a:srgbClr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name="AutoShape 11" id="11"/>
          <p:cNvSpPr/>
          <p:nvPr/>
        </p:nvSpPr>
        <p:spPr>
          <a:xfrm rot="0" flipH="false" flipV="false">
            <a:off x="8128000" y="2540000"/>
            <a:ext cx="3048000" cy="1651000"/>
          </a:xfrm>
          <a:prstGeom prst="roundRect">
            <a:avLst>
              <a:gd name="adj" fmla="val 6153"/>
            </a:avLst>
          </a:prstGeom>
          <a:solidFill>
            <a:srgbClr val="FEF2F2">
              <a:alpha val="100000"/>
            </a:srgbClr>
          </a:solidFill>
          <a:ln w="12700" cmpd="sng" cap="flat">
            <a:solidFill>
              <a:srgbClr val="C9302C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8318500" y="2540000"/>
            <a:ext cx="2667000" cy="165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发布进项目资产区</a:t>
            </a: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25000"/>
              </a:lnSpc>
            </a:pP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团队可见、可检索、可复用</a:t>
            </a:r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1016000" y="4826000"/>
            <a:ext cx="1016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资产按三级挂载：</a:t>
            </a:r>
            <a:r>
              <a:rPr lang="en-US" b="true" i="false" strike="noStrike" u="none" sz="14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个人</a:t>
            </a: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挂 Workspace · </a:t>
            </a:r>
            <a:r>
              <a:rPr lang="en-US" b="true" i="false" strike="noStrike" u="none" sz="14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团队</a:t>
            </a: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挂 Project · </a:t>
            </a:r>
            <a:r>
              <a:rPr lang="en-US" b="true" i="false" strike="noStrike" u="none" sz="14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组织</a:t>
            </a: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挂 Organization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1016000" y="5397500"/>
            <a:ext cx="1016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资产区是一棵知识库树，带全文搜索——不是翻不完的聊天记录。</a:t>
            </a:r>
            <a:endParaRPr lang="en-US" sz="1100"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1016000" y="762000"/>
            <a:ext cx="508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04 · 一个开源项目的观察 · 总纲第 5 格</a:t>
            </a:r>
            <a:endParaRPr lang="en-US" sz="1100"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1143000"/>
            <a:ext cx="1016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资产怎么被带走：能带，但权限不越界</a:t>
            </a:r>
            <a:endParaRPr lang="en-US" sz="1100"/>
          </a:p>
        </p:txBody>
      </p:sp>
      <p:cxnSp>
        <p:nvCxnSpPr>
          <p:cNvPr name="Connector 4" id="4"/>
          <p:cNvCxnSpPr/>
          <p:nvPr/>
        </p:nvCxnSpPr>
        <p:spPr>
          <a:xfrm rot="-4297" flipH="false" flipV="false">
            <a:off x="1016004" y="2025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5" id="5"/>
          <p:cNvSpPr/>
          <p:nvPr/>
        </p:nvSpPr>
        <p:spPr>
          <a:xfrm rot="0" flipH="false" flipV="false">
            <a:off x="1016000" y="2413000"/>
            <a:ext cx="4826000" cy="2730500"/>
          </a:xfrm>
          <a:prstGeom prst="roundRect">
            <a:avLst>
              <a:gd name="adj" fmla="val 3720"/>
            </a:avLst>
          </a:prstGeom>
          <a:solidFill>
            <a:srgbClr val="F8FAFC">
              <a:alpha val="100000"/>
            </a:srgbClr>
          </a:solidFill>
          <a:ln w="12700" cmpd="sng" cap="flat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6" id="6"/>
          <p:cNvSpPr/>
          <p:nvPr/>
        </p:nvSpPr>
        <p:spPr>
          <a:xfrm rot="0" flipH="false" flipV="false">
            <a:off x="1270000" y="2413000"/>
            <a:ext cx="4318000" cy="2730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true" i="false" strike="noStrike" u="none" sz="16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回源型 · 文档 / 表格 / 消息</a:t>
            </a: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包里只存摘要；看正文时</a:t>
            </a:r>
            <a:r>
              <a:rPr lang="en-US" b="true" i="false" strike="noStrike" u="none" sz="13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回源读取</a:t>
            </a: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，按你自己的权限实时校验</a:t>
            </a:r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没权限就返回 access_denied——</a:t>
            </a:r>
            <a:r>
              <a:rPr lang="en-US" b="true" i="false" strike="noStrike" u="none" sz="13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不静默消失</a:t>
            </a:r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6350000" y="2413000"/>
            <a:ext cx="4826000" cy="2730500"/>
          </a:xfrm>
          <a:prstGeom prst="roundRect">
            <a:avLst>
              <a:gd name="adj" fmla="val 3720"/>
            </a:avLst>
          </a:prstGeom>
          <a:solidFill>
            <a:srgbClr val="F8FAFC">
              <a:alpha val="100000"/>
            </a:srgbClr>
          </a:solidFill>
          <a:ln w="12700" cmpd="sng" cap="flat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6604000" y="2413000"/>
            <a:ext cx="4318000" cy="2730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true" i="false" strike="noStrike" u="none" sz="16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快照型 · 一段 Agent 会话</a:t>
            </a: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那是个人资产，你回源看不了——创建时冻结成一份清洗版快照</a:t>
            </a:r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之后看快照，不回源、不逐条鉴权</a:t>
            </a:r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016000" y="5524500"/>
            <a:ext cx="1016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分享 ≠ 开放目录：能带材料，但权限边界实时生效；回不了源的才冻结快照。</a:t>
            </a:r>
            <a:endParaRPr lang="en-US" sz="1100"/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1016000" y="762000"/>
            <a:ext cx="508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04 · 一个开源项目的观察 · 总纲第 6 格</a:t>
            </a:r>
            <a:endParaRPr lang="en-US" sz="1100"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1143000"/>
            <a:ext cx="1016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活怎么被接手：一个交接包，一条状态机</a:t>
            </a:r>
            <a:endParaRPr lang="en-US" sz="1100"/>
          </a:p>
        </p:txBody>
      </p:sp>
      <p:cxnSp>
        <p:nvCxnSpPr>
          <p:cNvPr name="Connector 4" id="4"/>
          <p:cNvCxnSpPr/>
          <p:nvPr/>
        </p:nvCxnSpPr>
        <p:spPr>
          <a:xfrm rot="-4297" flipH="false" flipV="false">
            <a:off x="1016004" y="2025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5" id="5"/>
          <p:cNvSpPr/>
          <p:nvPr/>
        </p:nvSpPr>
        <p:spPr>
          <a:xfrm rot="0" flipH="false" flipV="false">
            <a:off x="1016000" y="2286000"/>
            <a:ext cx="4826000" cy="1168400"/>
          </a:xfrm>
          <a:prstGeom prst="roundRect">
            <a:avLst>
              <a:gd name="adj" fmla="val 8695"/>
            </a:avLst>
          </a:prstGeom>
          <a:solidFill>
            <a:srgbClr val="F8FAFC">
              <a:alpha val="100000"/>
            </a:srgbClr>
          </a:solidFill>
          <a:ln w="12700" cmpd="sng" cap="flat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6" id="6"/>
          <p:cNvSpPr/>
          <p:nvPr/>
        </p:nvSpPr>
        <p:spPr>
          <a:xfrm rot="0" flipH="false" flipV="false">
            <a:off x="1244600" y="2286000"/>
            <a:ext cx="4445000" cy="1168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0833"/>
              </a:lnSpc>
              <a:defRPr/>
            </a:pPr>
            <a:r>
              <a:rPr lang="en-US" b="true" i="false" strike="noStrike" u="none" sz="15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工作目标</a:t>
            </a: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20833"/>
              </a:lnSpc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一句话说清这件事要干嘛（必填）</a:t>
            </a:r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6223000" y="2286000"/>
            <a:ext cx="4826000" cy="1168400"/>
          </a:xfrm>
          <a:prstGeom prst="roundRect">
            <a:avLst>
              <a:gd name="adj" fmla="val 8695"/>
            </a:avLst>
          </a:prstGeom>
          <a:solidFill>
            <a:srgbClr val="F8FAFC">
              <a:alpha val="100000"/>
            </a:srgbClr>
          </a:solidFill>
          <a:ln w="12700" cmpd="sng" cap="flat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6451600" y="2286000"/>
            <a:ext cx="4445000" cy="1168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0833"/>
              </a:lnSpc>
              <a:defRPr/>
            </a:pPr>
            <a:r>
              <a:rPr lang="en-US" b="true" i="false" strike="noStrike" u="none" sz="15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当前进展</a:t>
            </a: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20833"/>
              </a:lnSpc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已经做到哪一步、卡在哪</a:t>
            </a:r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016000" y="3581400"/>
            <a:ext cx="4826000" cy="1168400"/>
          </a:xfrm>
          <a:prstGeom prst="roundRect">
            <a:avLst>
              <a:gd name="adj" fmla="val 8695"/>
            </a:avLst>
          </a:prstGeom>
          <a:solidFill>
            <a:srgbClr val="F8FAFC">
              <a:alpha val="100000"/>
            </a:srgbClr>
          </a:solidFill>
          <a:ln w="12700" cmpd="sng" cap="flat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244600" y="3581400"/>
            <a:ext cx="4445000" cy="1168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0833"/>
              </a:lnSpc>
              <a:defRPr/>
            </a:pPr>
            <a:r>
              <a:rPr lang="en-US" b="true" i="false" strike="noStrike" u="none" sz="15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下一步</a:t>
            </a: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20833"/>
              </a:lnSpc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带勾选状态的待办 checklist</a:t>
            </a:r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6223000" y="3581400"/>
            <a:ext cx="4826000" cy="1168400"/>
          </a:xfrm>
          <a:prstGeom prst="roundRect">
            <a:avLst>
              <a:gd name="adj" fmla="val 8695"/>
            </a:avLst>
          </a:prstGeom>
          <a:solidFill>
            <a:srgbClr val="FEF2F2">
              <a:alpha val="100000"/>
            </a:srgbClr>
          </a:solidFill>
          <a:ln w="12700" cmpd="sng" cap="flat">
            <a:solidFill>
              <a:srgbClr val="C9302C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6451600" y="3581400"/>
            <a:ext cx="4445000" cy="1168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0833"/>
              </a:lnSpc>
              <a:defRPr/>
            </a:pPr>
            <a:r>
              <a:rPr lang="en-US" b="true" i="false" strike="noStrike" u="none" sz="15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待确认 / 风险</a:t>
            </a: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20833"/>
              </a:lnSpc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哪有坑、哪些要拍板，逐条标出</a:t>
            </a:r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1016000" y="4978400"/>
            <a:ext cx="1016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接收人状态机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1016000" y="5308600"/>
            <a:ext cx="1016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5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已发送 → 已查看 → 已了解　·　</a:t>
            </a:r>
            <a:r>
              <a:rPr lang="en-US" b="true" i="false" strike="noStrike" u="none" sz="15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由我继续</a:t>
            </a:r>
            <a:r>
              <a:rPr lang="en-US" b="false" i="false" strike="noStrike" u="none" sz="15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　·　交给自己的 Agent　·　已拒绝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1016000" y="5778500"/>
            <a:ext cx="1016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谁发起、谁看过、谁接手、后来谁补充——append-only 全程可溯；Agent 也是一等发起方。</a:t>
            </a:r>
            <a:endParaRPr lang="en-US" sz="1100"/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1016000" y="762000"/>
            <a:ext cx="508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04 · 一个开源项目的观察</a:t>
            </a:r>
            <a:endParaRPr lang="en-US" sz="1100"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1206500"/>
            <a:ext cx="1016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8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谁在你电脑上动手：三层分工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1016000" y="2095500"/>
            <a:ext cx="4826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服务端 + 多端壳：大脑与界面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1016000" y="2476500"/>
            <a:ext cx="4826000" cy="2286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58333"/>
              </a:lnSpc>
              <a:defRPr/>
            </a:pPr>
            <a:r>
              <a:rPr lang="en-US" b="true" i="false" strike="noStrike" u="none" sz="13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服务端 tabtin_django</a:t>
            </a: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58333"/>
              </a:lnSpc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身份 · 任务 · 资产 · RAG · 记忆 · 权限——所有真源在这</a:t>
            </a:r>
          </a:p>
          <a:p>
            <a:pPr algn="l" marL="0" indent="0">
              <a:lnSpc>
                <a:spcPct val="158333"/>
              </a:lnSpc>
            </a:pPr>
            <a:r>
              <a:rPr lang="en-US" b="true" i="false" strike="noStrike" u="none" sz="13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多端壳</a:t>
            </a: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marL="0" indent="0">
              <a:lnSpc>
                <a:spcPct val="158333"/>
              </a:lnSpc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Electron / Web / 安卓 / iOS——你操作的界面</a:t>
            </a:r>
          </a:p>
        </p:txBody>
      </p:sp>
      <p:cxnSp>
        <p:nvCxnSpPr>
          <p:cNvPr name="Connector 6" id="6"/>
          <p:cNvCxnSpPr/>
          <p:nvPr/>
        </p:nvCxnSpPr>
        <p:spPr>
          <a:xfrm rot="5385053" flipH="false" flipV="false">
            <a:off x="4635500" y="3613164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7" id="7"/>
          <p:cNvSpPr/>
          <p:nvPr/>
        </p:nvSpPr>
        <p:spPr>
          <a:xfrm rot="0" flipH="false" flipV="false">
            <a:off x="6477000" y="2095500"/>
            <a:ext cx="4826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本地 daemon：在真实机器上执行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6477000" y="2476500"/>
            <a:ext cx="4826000" cy="698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terminal · browser · safe-fs</a:t>
            </a:r>
            <a:r>
              <a:rPr lang="en-US" b="fals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　开终端、开浏览器、在授权目录读写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6477000" y="3302000"/>
            <a:ext cx="4826000" cy="698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python · mcp · skills</a:t>
            </a:r>
            <a:r>
              <a:rPr lang="en-US" b="fals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　跑脚本、连外部 MCP、加载技能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6477000" y="4127500"/>
            <a:ext cx="4826000" cy="698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security + gateway</a:t>
            </a:r>
            <a:r>
              <a:rPr lang="en-US" b="fals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　审批三档 · 每 run 预算 · 长连收任务回传</a:t>
            </a:r>
            <a:endParaRPr lang="en-US" sz="1100"/>
          </a:p>
        </p:txBody>
      </p:sp>
      <p:cxnSp>
        <p:nvCxnSpPr>
          <p:cNvPr name="Connector 11" id="11"/>
          <p:cNvCxnSpPr/>
          <p:nvPr/>
        </p:nvCxnSpPr>
        <p:spPr>
          <a:xfrm rot="-4297" flipH="false" flipV="false">
            <a:off x="1016004" y="5454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2" id="12"/>
          <p:cNvSpPr/>
          <p:nvPr/>
        </p:nvSpPr>
        <p:spPr>
          <a:xfrm rot="0" flipH="false" flipV="false">
            <a:off x="1016000" y="5651500"/>
            <a:ext cx="1016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Agent 在服务端、界面在多端，真正动手的是这台机器上的 daemon——这就是「Agent≠Device」。</a:t>
            </a:r>
            <a:endParaRPr lang="en-US" sz="1100"/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1016000" y="762000"/>
            <a:ext cx="508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04 · 一个开源项目的观察</a:t>
            </a:r>
            <a:endParaRPr lang="en-US" sz="1100"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1206500"/>
            <a:ext cx="1016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8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不是套壳：全栈开源，架构也较真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1016000" y="2095500"/>
            <a:ext cx="4826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开源范围是真实产品代码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1016000" y="2476500"/>
            <a:ext cx="4826000" cy="203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66666"/>
              </a:lnSpc>
              <a:defRPr/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· 桌面端（Electron）与移动端</a:t>
            </a:r>
            <a:endParaRPr lang="en-US" sz="1100"/>
          </a:p>
          <a:p>
            <a:pPr algn="l" marL="0" indent="0">
              <a:lnSpc>
                <a:spcPct val="166666"/>
              </a:lnSpc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· 服务端 + Agent Runtime（569 文件）</a:t>
            </a:r>
          </a:p>
          <a:p>
            <a:pPr algn="l" marL="0" indent="0">
              <a:lnSpc>
                <a:spcPct val="166666"/>
              </a:lnSpc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· 实时协作（CRDT 消息 / 文档 / 表格 / PPT）</a:t>
            </a:r>
          </a:p>
          <a:p>
            <a:pPr algn="l" marL="0" indent="0">
              <a:lnSpc>
                <a:spcPct val="166666"/>
              </a:lnSpc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· 模型管理与管理后台</a:t>
            </a:r>
          </a:p>
          <a:p>
            <a:pPr algn="l" marL="0" indent="0">
              <a:lnSpc>
                <a:spcPct val="166666"/>
              </a:lnSpc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· 许可证 AGPL-3.0，可自部署</a:t>
            </a:r>
          </a:p>
        </p:txBody>
      </p:sp>
      <p:cxnSp>
        <p:nvCxnSpPr>
          <p:cNvPr name="Connector 6" id="6"/>
          <p:cNvCxnSpPr/>
          <p:nvPr/>
        </p:nvCxnSpPr>
        <p:spPr>
          <a:xfrm rot="5385053" flipH="false" flipV="false">
            <a:off x="4635486" y="3613178"/>
            <a:ext cx="2921028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7" id="7"/>
          <p:cNvSpPr/>
          <p:nvPr/>
        </p:nvSpPr>
        <p:spPr>
          <a:xfrm rot="0" flipH="false" flipV="false">
            <a:off x="6477000" y="2095500"/>
            <a:ext cx="4826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三个架构决策，能看出它想做什么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6477000" y="2476500"/>
            <a:ext cx="4826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true" i="false" strike="noStrike" u="none" sz="12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Agent ≠ Device</a:t>
            </a:r>
            <a:r>
              <a:rPr lang="en-US" b="fals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　身份和执行环境解耦——同一个 Agent 可以在不同电脑上跑，手机发起、桌面执行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6477000" y="3302000"/>
            <a:ext cx="4826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true" i="false" strike="noStrike" u="none" sz="12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交接 ≠ 共享目录</a:t>
            </a:r>
            <a:r>
              <a:rPr lang="en-US" b="fals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　Workspace 是私有的，交接只带引用材料和上下文，不把你的整个目录甩给同事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6477000" y="4127500"/>
            <a:ext cx="4826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true" i="false" strike="noStrike" u="none" sz="12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Shadow Git</a:t>
            </a:r>
            <a:r>
              <a:rPr lang="en-US" b="fals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　检查点挂在用户项目外的影子仓库，用 core.worktree 指向项目——不污染你自己的 .git</a:t>
            </a:r>
            <a:endParaRPr lang="en-US" sz="1100"/>
          </a:p>
        </p:txBody>
      </p:sp>
      <p:cxnSp>
        <p:nvCxnSpPr>
          <p:cNvPr name="Connector 11" id="11"/>
          <p:cNvCxnSpPr/>
          <p:nvPr/>
        </p:nvCxnSpPr>
        <p:spPr>
          <a:xfrm rot="-4297" flipH="false" flipV="false">
            <a:off x="1016004" y="5454650"/>
            <a:ext cx="10160008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2" id="12"/>
          <p:cNvSpPr/>
          <p:nvPr/>
        </p:nvSpPr>
        <p:spPr>
          <a:xfrm rot="0" flipH="false" flipV="false">
            <a:off x="1016000" y="5651500"/>
            <a:ext cx="1016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当前 Public Preview（公开预览）阶段 · github.com/tabtin-ai/TabTin · 官网 tabtin.com</a:t>
            </a:r>
            <a:endParaRPr lang="en-US" sz="1100"/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1016000" y="762000"/>
            <a:ext cx="508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04 · 一个开源项目的观察</a:t>
            </a:r>
            <a:endParaRPr lang="en-US" sz="1100"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1206500"/>
            <a:ext cx="1016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8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TabTin 站在哪：和 Codex / Claude Code 比</a:t>
            </a:r>
            <a:endParaRPr lang="en-US" sz="1100"/>
          </a:p>
        </p:txBody>
      </p:sp>
      <p:graphicFrame>
        <p:nvGraphicFramePr>
          <p:cNvPr name="Table 4" id="4"/>
          <p:cNvGraphicFramePr>
            <a:graphicFrameLocks noGrp="true"/>
          </p:cNvGraphicFramePr>
          <p:nvPr/>
        </p:nvGraphicFramePr>
        <p:xfrm>
          <a:off x="1016000" y="2032000"/>
          <a:ext cx="10160000" cy="35560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651000"/>
                <a:gridCol w="2794000"/>
                <a:gridCol w="2794000"/>
                <a:gridCol w="2921000"/>
              </a:tblGrid>
              <a:tr h="4699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20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维度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D1326">
                        <a:alpha val="100000"/>
                      </a:srgbClr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20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Codex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D1326">
                        <a:alpha val="100000"/>
                      </a:srgbClr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20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Claude Code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D1326">
                        <a:alpha val="100000"/>
                      </a:srgbClr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20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TabTin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9302C">
                        <a:alpha val="100000"/>
                      </a:srgbClr>
                    </a:solidFill>
                  </a:tcPr>
                </a:tc>
              </a:tr>
              <a:tr h="6223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100">
                          <a:solidFill>
                            <a:srgbClr val="0D1326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设计假设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>
                        <a:alpha val="100000"/>
                      </a:srgbClr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47556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单人 coding，派发后走开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47556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单人 coding，人在终端前盯着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100">
                          <a:solidFill>
                            <a:srgbClr val="0D1326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团队协作，人+Agent 一起干活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6223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100">
                          <a:solidFill>
                            <a:srgbClr val="0D1326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沙箱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>
                        <a:alpha val="100000"/>
                      </a:srgbClr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47556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内核级 Seatbelt / Landlock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47556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应用层 hooks + 权限询问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47556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应用层 judge()，三档审批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6223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100">
                          <a:solidFill>
                            <a:srgbClr val="0D1326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检查点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>
                        <a:alpha val="100000"/>
                      </a:srgbClr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47556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worktree 隔离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47556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/rewind，不追踪 Bash 副作用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47556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Shadow Git，不污染 .git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6223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100">
                          <a:solidFill>
                            <a:srgbClr val="0D1326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多人协作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>
                        <a:alpha val="100000"/>
                      </a:srgbClr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47556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无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47556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Agent Teams，研究预览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100">
                          <a:solidFill>
                            <a:srgbClr val="0D1326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CRDT 原生，人和 Agent 同一份文档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969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100">
                          <a:solidFill>
                            <a:srgbClr val="0D1326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工作交接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>
                        <a:alpha val="100000"/>
                      </a:srgbClr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47556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会话历史在本地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47556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同左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100">
                          <a:solidFill>
                            <a:srgbClr val="0D1326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冻结上下文带引用，换人接得住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name="AutoShape 5" id="5"/>
          <p:cNvSpPr/>
          <p:nvPr/>
        </p:nvSpPr>
        <p:spPr>
          <a:xfrm rot="0" flipH="false" flipV="false">
            <a:off x="1016000" y="5842000"/>
            <a:ext cx="1016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Codex / Claude Code 把左边磨到极致，TabTin 站在右边那层空白上——不是替代品，是补位。</a:t>
            </a:r>
            <a:endParaRPr lang="en-US" sz="1100"/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1016000" y="762000"/>
            <a:ext cx="508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05 · 合流</a:t>
            </a:r>
            <a:endParaRPr lang="en-US" sz="1100"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1206500"/>
            <a:ext cx="1016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8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两条路，填的是同一道沟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1016000" y="2286000"/>
            <a:ext cx="4318000" cy="19050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1270000" y="2514600"/>
            <a:ext cx="381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多智能体协同</a:t>
            </a:r>
            <a:endParaRPr lang="en-US" sz="1100"/>
          </a:p>
        </p:txBody>
      </p:sp>
      <p:sp>
        <p:nvSpPr>
          <p:cNvPr name="AutoShape 6" id="6"/>
          <p:cNvSpPr/>
          <p:nvPr/>
        </p:nvSpPr>
        <p:spPr>
          <a:xfrm rot="0" flipH="false" flipV="false">
            <a:off x="1270000" y="2921000"/>
            <a:ext cx="3810000" cy="1143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41666"/>
              </a:lnSpc>
              <a:defRPr/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技术界的桥：</a:t>
            </a:r>
            <a:endParaRPr lang="en-US" sz="1100"/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保护 agent 之间的</a:t>
            </a:r>
            <a:r>
              <a:rPr lang="en-US" b="true" i="false" strike="noStrike" u="none" sz="13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独立视角</a:t>
            </a: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，不被层级汇报压平</a:t>
            </a:r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6858000" y="2286000"/>
            <a:ext cx="4318000" cy="1905000"/>
          </a:xfrm>
          <a:prstGeom prst="roundRect">
            <a:avLst>
              <a:gd name="adj" fmla="val 0"/>
            </a:avLst>
          </a:prstGeom>
          <a:solidFill>
            <a:srgbClr val="C9302C">
              <a:alpha val="8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7112000" y="2514600"/>
            <a:ext cx="381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TabTin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7112000" y="2921000"/>
            <a:ext cx="3810000" cy="1143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41666"/>
              </a:lnSpc>
              <a:defRPr/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产品界的桥：</a:t>
            </a:r>
            <a:endParaRPr lang="en-US" sz="1100"/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保护人之间的</a:t>
            </a:r>
            <a:r>
              <a:rPr lang="en-US" b="true" i="false" strike="noStrike" u="none" sz="13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工作上下文</a:t>
            </a: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，不被交接丢掉</a:t>
            </a:r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5588000" y="2984500"/>
            <a:ext cx="1016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28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+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2286000" y="4699000"/>
            <a:ext cx="7620000" cy="889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0D1326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2540000" y="4851400"/>
            <a:ext cx="71120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5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共同的敌人：信息从一个工作主体传到另一个时，</a:t>
            </a:r>
            <a:endParaRPr lang="en-US" sz="1100"/>
          </a:p>
          <a:p>
            <a:pPr algn="ctr" marL="0" indent="0">
              <a:lnSpc>
                <a:spcPct val="125000"/>
              </a:lnSpc>
            </a:pPr>
            <a:r>
              <a:rPr lang="en-US" b="false" i="false" strike="noStrike" u="none" sz="15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在"汇报 / 交接"这一步被压成了</a:t>
            </a:r>
            <a:r>
              <a:rPr lang="en-US" b="true" i="false" strike="noStrike" u="none" sz="15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有损摘要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1016000" y="762000"/>
            <a:ext cx="508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06 · 收尾</a:t>
            </a:r>
            <a:endParaRPr lang="en-US" sz="1100"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1206500"/>
            <a:ext cx="1016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8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不用等平台，今天就能开始一件事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1016000" y="2286000"/>
            <a:ext cx="10160000" cy="1524000"/>
          </a:xfrm>
          <a:prstGeom prst="roundRect">
            <a:avLst>
              <a:gd name="adj" fmla="val 0"/>
            </a:avLst>
          </a:prstGeom>
          <a:solidFill>
            <a:srgbClr val="F8FAFC">
              <a:alpha val="100000"/>
            </a:srgbClr>
          </a:solidFill>
          <a:ln w="12700" cmpd="sng" cap="flat">
            <a:solidFill>
              <a:srgbClr val="C9302C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1397000" y="2540000"/>
            <a:ext cx="9398000" cy="1143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50000"/>
              </a:lnSpc>
              <a:defRPr/>
            </a:pPr>
            <a:r>
              <a:rPr lang="en-US" b="false" i="false" strike="noStrike" u="none" sz="17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下次你用 AI 做完一个东西，别只把最终文件丢给同事——</a:t>
            </a:r>
            <a:endParaRPr lang="en-US" sz="1100"/>
          </a:p>
          <a:p>
            <a:pPr algn="l" marL="0" indent="0">
              <a:lnSpc>
                <a:spcPct val="150000"/>
              </a:lnSpc>
            </a:pPr>
            <a:r>
              <a:rPr lang="en-US" b="false" i="false" strike="noStrike" u="none" sz="17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把</a:t>
            </a:r>
            <a:r>
              <a:rPr lang="en-US" b="true" i="false" strike="noStrike" u="none" sz="17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"我当时为什么这么判断、参考了哪几个资料、否掉了哪个方案"</a:t>
            </a:r>
            <a:r>
              <a:rPr lang="en-US" b="false" i="false" strike="noStrike" u="none" sz="17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一起交出去。</a:t>
            </a:r>
          </a:p>
        </p:txBody>
      </p:sp>
      <p:sp>
        <p:nvSpPr>
          <p:cNvPr name="AutoShape 6" id="6"/>
          <p:cNvSpPr/>
          <p:nvPr/>
        </p:nvSpPr>
        <p:spPr>
          <a:xfrm rot="0" flipH="false" flipV="false">
            <a:off x="1016000" y="4318000"/>
            <a:ext cx="10160000" cy="1016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50000"/>
              </a:lnSpc>
              <a:defRPr/>
            </a:pPr>
            <a:r>
              <a:rPr lang="en-US" b="false" i="false" strike="noStrike" u="none" sz="15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这正是 TabTin 在工程上自动化的事，但今天手动就能做。</a:t>
            </a:r>
            <a:endParaRPr lang="en-US" sz="1100"/>
          </a:p>
          <a:p>
            <a:pPr algn="l" marL="0" indent="0">
              <a:lnSpc>
                <a:spcPct val="150000"/>
              </a:lnSpc>
            </a:pPr>
            <a:r>
              <a:rPr lang="en-US" b="false" i="false" strike="noStrike" u="none" sz="15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多智能体也好，协作平台也好，核心就一句：</a:t>
            </a:r>
            <a:r>
              <a:rPr lang="en-US" b="true" i="false" strike="noStrike" u="none" sz="15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让工作能被下一个人接得住。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D1326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1016000" y="1905000"/>
            <a:ext cx="1016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END</a:t>
            </a:r>
            <a:endParaRPr lang="en-US" sz="1100"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2476500"/>
            <a:ext cx="10160000" cy="152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true" i="false" strike="noStrike" u="none" sz="34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AI 真正的效率红利，可能不在一个人用多快，</a:t>
            </a:r>
            <a:endParaRPr lang="en-US" sz="1100"/>
          </a:p>
          <a:p>
            <a:pPr algn="l" marL="0" indent="0">
              <a:lnSpc>
                <a:spcPct val="116666"/>
              </a:lnSpc>
            </a:pPr>
            <a:r>
              <a:rPr lang="en-US" b="true" i="false" strike="noStrike" u="none" sz="34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而在一群人能不能</a:t>
            </a:r>
            <a:r>
              <a:rPr lang="en-US" b="true" i="false" strike="noStrike" u="none" sz="3400">
                <a:solidFill>
                  <a:srgbClr val="D4E9F7"/>
                </a:solidFill>
                <a:latin typeface="Noto Sans SC"/>
                <a:ea typeface="Noto Sans SC"/>
                <a:cs typeface="Noto Sans SC"/>
                <a:sym typeface="Noto Sans SC"/>
              </a:rPr>
              <a:t>互相接住</a:t>
            </a:r>
            <a:r>
              <a:rPr lang="en-US" b="true" i="false" strike="noStrike" u="none" sz="34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</a:p>
        </p:txBody>
      </p:sp>
      <p:cxnSp>
        <p:nvCxnSpPr>
          <p:cNvPr name="Connector 4" id="4"/>
          <p:cNvCxnSpPr/>
          <p:nvPr/>
        </p:nvCxnSpPr>
        <p:spPr>
          <a:xfrm rot="-28646" flipH="false" flipV="false">
            <a:off x="1016026" y="4565650"/>
            <a:ext cx="1524053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mpd="sng" cap="flat">
            <a:solidFill>
              <a:srgbClr val="C9302C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name="AutoShape 5" id="5"/>
          <p:cNvSpPr/>
          <p:nvPr/>
        </p:nvSpPr>
        <p:spPr>
          <a:xfrm rot="0" flipH="false" flipV="false">
            <a:off x="1016000" y="4889500"/>
            <a:ext cx="1016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500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TabTin · 开源 · AGPL-3.0 · Public Preview</a:t>
            </a:r>
            <a:endParaRPr lang="en-US" sz="1100"/>
          </a:p>
        </p:txBody>
      </p:sp>
      <p:sp>
        <p:nvSpPr>
          <p:cNvPr name="AutoShape 6" id="6"/>
          <p:cNvSpPr/>
          <p:nvPr/>
        </p:nvSpPr>
        <p:spPr>
          <a:xfrm rot="0" flipH="false" flipV="false">
            <a:off x="1016000" y="5334000"/>
            <a:ext cx="1016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github.com/tabtin-ai/TabTin　·　tabtin.com　·　欢迎一起跑一跑，聊聊想法</a:t>
            </a:r>
            <a:endParaRPr lang="en-US" sz="1100"/>
          </a:p>
        </p:txBody>
      </p:sp>
      <p:pic>
        <p:nvPicPr>
          <p:cNvPr name="Picture 7" id="7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6190112"/>
            <a:ext cx="1524000" cy="6678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